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212080"/>
            <a:ext cx="1463040" cy="1463040"/>
          </a:xfrm>
          <a:prstGeom prst="ellipse">
            <a:avLst/>
          </a:prstGeom>
          <a:solidFill>
            <a:srgbClr val="E9EDE3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572000"/>
            <a:ext cx="822960" cy="822960"/>
          </a:xfrm>
          <a:prstGeom prst="ellipse">
            <a:avLst/>
          </a:prstGeom>
          <a:solidFill>
            <a:srgbClr val="F1E4DA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6035040"/>
            <a:ext cx="502920" cy="50292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502920" cy="502920"/>
          </a:xfrm>
          <a:prstGeom prst="ellipse">
            <a:avLst/>
          </a:prstGeom>
          <a:solidFill>
            <a:srgbClr val="E9EDE3"/>
          </a:solidFill>
          <a:ln/>
        </p:spPr>
      </p:sp>
      <p:pic>
        <p:nvPicPr>
          <p:cNvPr id="6" name="Image 0" descr="/home/claude/deck/icons/microchip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770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640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 ·  IECON 2026 CANDIDATE PAPER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Activity-Rate-Aware Hysteresis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for Adaptive Power Gating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sleep-mode thrashing in SoC blocks — without machine learning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434840"/>
            <a:ext cx="2011680" cy="0"/>
          </a:xfrm>
          <a:prstGeom prst="line">
            <a:avLst/>
          </a:prstGeom>
          <a:noFill/>
          <a:ln w="19050">
            <a:solidFill>
              <a:srgbClr val="E9ED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Joud Thaher   ·   Layan Salem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Khader Mohammed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5413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and Computer Engineering — Birzeit University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thresholds can't tell idle apart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busy-with-gaps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power now dominates total power as nodes shrink.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gating helps — but most controllers sleep after a fixed idle-cycle count, regardless of why the gap occurred.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Bursty traffic with short gaps above that threshold causes repeated sleep/wake cycles — thrashing.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120640" cy="2926080"/>
          </a:xfrm>
          <a:prstGeom prst="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bursty workload, seen by a fixed threshold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12280" y="3291840"/>
            <a:ext cx="292608" cy="502920"/>
          </a:xfrm>
          <a:prstGeom prst="rect">
            <a:avLst/>
          </a:prstGeom>
          <a:solidFill>
            <a:srgbClr val="6B7A5E"/>
          </a:solidFill>
          <a:ln/>
        </p:spPr>
      </p:sp>
      <p:sp>
        <p:nvSpPr>
          <p:cNvPr id="9" name="Shape 7"/>
          <p:cNvSpPr/>
          <p:nvPr/>
        </p:nvSpPr>
        <p:spPr>
          <a:xfrm>
            <a:off x="7370064" y="3904488"/>
            <a:ext cx="128016" cy="128016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10" name="Shape 8"/>
          <p:cNvSpPr/>
          <p:nvPr/>
        </p:nvSpPr>
        <p:spPr>
          <a:xfrm>
            <a:off x="7763256" y="3291840"/>
            <a:ext cx="292608" cy="502920"/>
          </a:xfrm>
          <a:prstGeom prst="rect">
            <a:avLst/>
          </a:prstGeom>
          <a:solidFill>
            <a:srgbClr val="6B7A5E"/>
          </a:solidFill>
          <a:ln/>
        </p:spPr>
      </p:sp>
      <p:sp>
        <p:nvSpPr>
          <p:cNvPr id="11" name="Shape 9"/>
          <p:cNvSpPr/>
          <p:nvPr/>
        </p:nvSpPr>
        <p:spPr>
          <a:xfrm>
            <a:off x="8321040" y="3904488"/>
            <a:ext cx="128016" cy="128016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12" name="Shape 10"/>
          <p:cNvSpPr/>
          <p:nvPr/>
        </p:nvSpPr>
        <p:spPr>
          <a:xfrm>
            <a:off x="8714232" y="3291840"/>
            <a:ext cx="292608" cy="502920"/>
          </a:xfrm>
          <a:prstGeom prst="rect">
            <a:avLst/>
          </a:prstGeom>
          <a:solidFill>
            <a:srgbClr val="6B7A5E"/>
          </a:solidFill>
          <a:ln/>
        </p:spPr>
      </p:sp>
      <p:sp>
        <p:nvSpPr>
          <p:cNvPr id="13" name="Shape 11"/>
          <p:cNvSpPr/>
          <p:nvPr/>
        </p:nvSpPr>
        <p:spPr>
          <a:xfrm>
            <a:off x="9272016" y="3904488"/>
            <a:ext cx="128016" cy="128016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14" name="Shape 12"/>
          <p:cNvSpPr/>
          <p:nvPr/>
        </p:nvSpPr>
        <p:spPr>
          <a:xfrm>
            <a:off x="9665208" y="3291840"/>
            <a:ext cx="292608" cy="502920"/>
          </a:xfrm>
          <a:prstGeom prst="rect">
            <a:avLst/>
          </a:prstGeom>
          <a:solidFill>
            <a:srgbClr val="6B7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22992" y="3904488"/>
            <a:ext cx="128016" cy="128016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6184" y="3291840"/>
            <a:ext cx="292608" cy="502920"/>
          </a:xfrm>
          <a:prstGeom prst="rect">
            <a:avLst/>
          </a:prstGeom>
          <a:solidFill>
            <a:srgbClr val="6B7A5E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3794760"/>
            <a:ext cx="4572000" cy="0"/>
          </a:xfrm>
          <a:prstGeom prst="line">
            <a:avLst/>
          </a:prstGeom>
          <a:noFill/>
          <a:ln w="12700">
            <a:solidFill>
              <a:srgbClr val="8C867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675120" y="4087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idle-cycle threshold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activity     ● false wake-up trigger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wake-up costs latency and energy — savings from sleeping briefly can cost more than they save.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Activity-Rate-Aware Hysteresis Power Gating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OUR IDEA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sleep entry on idle count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activity rate — not idle count alone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1371600" cy="1371600"/>
          </a:xfrm>
          <a:prstGeom prst="ellipse">
            <a:avLst/>
          </a:prstGeom>
          <a:solidFill>
            <a:srgbClr val="E9EDE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Idle-cycle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2316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1371600" cy="1371600"/>
          </a:xfrm>
          <a:prstGeom prst="ellipse">
            <a:avLst/>
          </a:prstGeom>
          <a:solidFill>
            <a:srgbClr val="E9EDE3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83480" y="2788920"/>
            <a:ext cx="548640" cy="0"/>
          </a:xfrm>
          <a:prstGeom prst="line">
            <a:avLst/>
          </a:prstGeom>
          <a:noFill/>
          <a:ln w="19050">
            <a:solidFill>
              <a:srgbClr val="8C867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623560" y="2011680"/>
            <a:ext cx="1737360" cy="1554480"/>
          </a:xfrm>
          <a:prstGeom prst="roundRect">
            <a:avLst>
              <a:gd name="adj" fmla="val 8824"/>
            </a:avLst>
          </a:prstGeom>
          <a:solidFill>
            <a:srgbClr val="C97B5E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20116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recent activity is high, both thresholds widen — bursty traffic no longer reads as idle.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75320" y="2057400"/>
            <a:ext cx="502920" cy="502920"/>
          </a:xfrm>
          <a:prstGeom prst="ellipse">
            <a:avLst/>
          </a:prstGeom>
          <a:solidFill>
            <a:srgbClr val="E9EDE3"/>
          </a:solidFill>
          <a:ln/>
        </p:spPr>
      </p:sp>
      <p:pic>
        <p:nvPicPr>
          <p:cNvPr id="15" name="Image 0" descr="/home/claude/deck/icons/bolt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6079" y="2188159"/>
            <a:ext cx="241402" cy="24140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91540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Comparator-only logic — no multipliers, no learned models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75320" y="2971800"/>
            <a:ext cx="502920" cy="502920"/>
          </a:xfrm>
          <a:prstGeom prst="ellipse">
            <a:avLst/>
          </a:prstGeom>
          <a:solidFill>
            <a:srgbClr val="E9EDE3"/>
          </a:solidFill>
          <a:ln/>
        </p:spPr>
      </p:sp>
      <p:pic>
        <p:nvPicPr>
          <p:cNvPr id="18" name="Image 1" descr="/home/claude/deck/icons/random_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079" y="3102559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91540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 widening suppresses sleep during bursts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275320" y="3886200"/>
            <a:ext cx="502920" cy="502920"/>
          </a:xfrm>
          <a:prstGeom prst="ellipse">
            <a:avLst/>
          </a:prstGeom>
          <a:solidFill>
            <a:srgbClr val="E9EDE3"/>
          </a:solidFill>
          <a:ln/>
        </p:spPr>
      </p:sp>
      <p:pic>
        <p:nvPicPr>
          <p:cNvPr id="21" name="Image 2" descr="/home/claude/deck/icons/balance_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079" y="4016959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1540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single-module-substitution comparison isolates the real variable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Activity-Rate-Aware Hysteresis Power Gating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power domains, six modules,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substituted block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PD_TOP — always-on control domain (monitor, predictor, FSM, sleep controller)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PD_ALU — power-gated domain (32-bit ALU + MTCMOS footer switch)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hysteresis predictor is the controller's only novel block</a:t>
            </a:r>
            <a:endParaRPr lang="en-US" sz="1400" dirty="0"/>
          </a:p>
        </p:txBody>
      </p:sp>
      <p:pic>
        <p:nvPicPr>
          <p:cNvPr id="6" name="Image 0" descr="/home/claude/architecture_diagram_no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234440"/>
            <a:ext cx="4160520" cy="40773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Activity-Rate-Aware Hysteresis Power Gating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states govern every transition</a:t>
            </a:r>
            <a:endParaRPr lang="en-US" sz="2800" dirty="0"/>
          </a:p>
        </p:txBody>
      </p:sp>
      <p:pic>
        <p:nvPicPr>
          <p:cNvPr id="5" name="Image 0" descr="/home/claude/fsm_diagram_no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1168" y="1600200"/>
            <a:ext cx="6309360" cy="44516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737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2450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· LS wake-up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31375" y="1737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631375" y="2450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· DS wake-up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Activity-Rate-Aware Hysteresis Power Gating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METHOD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module swapped.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 identical.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07208"/>
            <a:ext cx="91440" cy="9144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432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ALU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91440" cy="9144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1272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monitor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575304"/>
            <a:ext cx="91440" cy="9144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5112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Power-state FSM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959352"/>
            <a:ext cx="91440" cy="9144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8953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controller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343400"/>
            <a:ext cx="91440" cy="9144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2793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control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727448"/>
            <a:ext cx="91440" cy="9144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6634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 power intent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512064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6B7A5E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20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Fixed-threshold predictor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45375" y="196596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19695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19695" y="2807208"/>
            <a:ext cx="91440" cy="9144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24" name="Text 22"/>
          <p:cNvSpPr/>
          <p:nvPr/>
        </p:nvSpPr>
        <p:spPr>
          <a:xfrm>
            <a:off x="7848295" y="27432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ALU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19695" y="3191256"/>
            <a:ext cx="91440" cy="9144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26" name="Text 24"/>
          <p:cNvSpPr/>
          <p:nvPr/>
        </p:nvSpPr>
        <p:spPr>
          <a:xfrm>
            <a:off x="7848295" y="31272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monitor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19695" y="3575304"/>
            <a:ext cx="91440" cy="9144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28" name="Text 26"/>
          <p:cNvSpPr/>
          <p:nvPr/>
        </p:nvSpPr>
        <p:spPr>
          <a:xfrm>
            <a:off x="7848295" y="35112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Power-state FSM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619695" y="3959352"/>
            <a:ext cx="91440" cy="9144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30" name="Text 28"/>
          <p:cNvSpPr/>
          <p:nvPr/>
        </p:nvSpPr>
        <p:spPr>
          <a:xfrm>
            <a:off x="7848295" y="38953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controller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619695" y="4343400"/>
            <a:ext cx="91440" cy="9144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32" name="Text 30"/>
          <p:cNvSpPr/>
          <p:nvPr/>
        </p:nvSpPr>
        <p:spPr>
          <a:xfrm>
            <a:off x="7848295" y="42793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control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619695" y="4727448"/>
            <a:ext cx="91440" cy="91440"/>
          </a:xfrm>
          <a:prstGeom prst="ellipse">
            <a:avLst/>
          </a:prstGeom>
          <a:solidFill>
            <a:srgbClr val="6B7A5E"/>
          </a:solidFill>
          <a:ln/>
        </p:spPr>
      </p:sp>
      <p:sp>
        <p:nvSpPr>
          <p:cNvPr id="34" name="Text 32"/>
          <p:cNvSpPr/>
          <p:nvPr/>
        </p:nvSpPr>
        <p:spPr>
          <a:xfrm>
            <a:off x="7848295" y="46634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 power intent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573975" y="512064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C97B5E"/>
          </a:solidFill>
          <a:ln/>
        </p:spPr>
      </p:sp>
      <p:sp>
        <p:nvSpPr>
          <p:cNvPr id="36" name="Text 34"/>
          <p:cNvSpPr/>
          <p:nvPr/>
        </p:nvSpPr>
        <p:spPr>
          <a:xfrm>
            <a:off x="7573975" y="5120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predictor (novel)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90008" y="6217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variable that differs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Activity-Rate-Aware Hysteresis Power Gating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EXPERIMENTS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workloads, identical stimulus,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designs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6608" y="210312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26768" y="2377440"/>
            <a:ext cx="731520" cy="731520"/>
          </a:xfrm>
          <a:prstGeom prst="ellipse">
            <a:avLst/>
          </a:prstGeom>
          <a:solidFill>
            <a:srgbClr val="E9EDE3"/>
          </a:solidFill>
          <a:ln/>
        </p:spPr>
      </p:sp>
      <p:pic>
        <p:nvPicPr>
          <p:cNvPr id="7" name="Image 0" descr="/home/claude/deck/icons/bolt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963" y="25676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6608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20928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bursts, gaps above the baseline's fixed threshold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49928" y="210312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30088" y="2377440"/>
            <a:ext cx="731520" cy="731520"/>
          </a:xfrm>
          <a:prstGeom prst="ellipse">
            <a:avLst/>
          </a:prstGeom>
          <a:solidFill>
            <a:srgbClr val="E9EDE3"/>
          </a:solidFill>
          <a:ln/>
        </p:spPr>
      </p:sp>
      <p:pic>
        <p:nvPicPr>
          <p:cNvPr id="12" name="Image 1" descr="/home/claude/deck/icons/layers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283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49928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24248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unambiguous idle periods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53248" y="210312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33408" y="2377440"/>
            <a:ext cx="731520" cy="731520"/>
          </a:xfrm>
          <a:prstGeom prst="ellipse">
            <a:avLst/>
          </a:prstGeom>
          <a:solidFill>
            <a:srgbClr val="E9EDE3"/>
          </a:solidFill>
          <a:ln/>
        </p:spPr>
      </p:sp>
      <p:pic>
        <p:nvPicPr>
          <p:cNvPr id="17" name="Image 2" descr="/home/claude/deck/icons/random_c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603" y="256763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53248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27568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dense and sparse phases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Synopsys VCS  ·  Design Compiler  ·  IC Compiler II  ·  SAED14LVT 14 nm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Activity-Rate-Aware Hysteresis Power Gating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transitions vs. nineteen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69568" y="1783080"/>
            <a:ext cx="9052560" cy="2921930"/>
          </a:xfrm>
          <a:prstGeom prst="roundRect">
            <a:avLst>
              <a:gd name="adj" fmla="val 3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user-data/uploads/waveform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920240"/>
            <a:ext cx="8778240" cy="26476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479645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workload — power_mode and sleep_n, baseline vs. proposed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371600" y="5440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7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→ 0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1371600" y="6153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transitions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07128" y="5440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7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→ 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907128" y="6153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 events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59775" y="5440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7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19.3% → 59.3%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259775" y="5989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under bursts. Equally efficient</a:t>
            </a:r>
            <a:endParaRPr lang="en-US" sz="2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truly idle.</a:t>
            </a:r>
            <a:endParaRPr lang="en-US" sz="2700" dirty="0"/>
          </a:p>
        </p:txBody>
      </p:sp>
      <p:pic>
        <p:nvPicPr>
          <p:cNvPr id="5" name="Image 0" descr="/home/claude/figs/fig3_transitions_through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874520"/>
            <a:ext cx="9509760" cy="41101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167551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workload: 33.4% vs. 31.6% leakage saving — within measurement noise, not a real penalty.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Activity-Rate-Aware Hysteresis Power Gating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bounded cost for a real behavioral win</a:t>
            </a:r>
            <a:endParaRPr lang="en-US" sz="2800" dirty="0"/>
          </a:p>
        </p:txBody>
      </p:sp>
      <p:pic>
        <p:nvPicPr>
          <p:cNvPr id="5" name="Image 0" descr="/home/claude/figs/fig5_area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874520"/>
            <a:ext cx="9509760" cy="40922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149641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+13.6% real post-route area  ·  WNS = TNS = 0.0000 ns on both designs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Activity-Rate-Aware Hysteresis Power Gating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DISCUSSION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sits against prior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hardware?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0881360" cy="0"/>
          </a:xfrm>
          <a:prstGeom prst="line">
            <a:avLst/>
          </a:prstGeom>
          <a:noFill/>
          <a:ln w="19050">
            <a:solidFill>
              <a:srgbClr val="E9E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Agarwal et al. — multi-level gating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23360" y="2651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Idle-count only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321040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Thrashes under bursts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5387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Karthikeyan et al. — multi-core ML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23360" y="35387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classifier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353872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(ML)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21040" y="35387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for multi-core, not one block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425696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9EDE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2569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023360" y="442569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Idle-count + activity rate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442569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(comparators)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21040" y="442569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+13.6% area, zero thrashing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Activity-Rate-Aware Hysteresis Power Gating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ellipse">
            <a:avLst/>
          </a:prstGeom>
          <a:solidFill>
            <a:srgbClr val="C97B5E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LIMITATIONS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doesn't claim — yet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F1E4DA"/>
          </a:solidFill>
          <a:ln/>
        </p:spPr>
      </p:sp>
      <p:pic>
        <p:nvPicPr>
          <p:cNvPr id="6" name="Image 0" descr="/home/claude/deck/icons/warning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03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comparisons use a derived metric (transitions × wake-up latency), not a first-principles joule measurement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F1E4DA"/>
          </a:solidFill>
          <a:ln/>
        </p:spPr>
      </p:sp>
      <p:pic>
        <p:nvPicPr>
          <p:cNvPr id="9" name="Image 1" descr="/home/claude/deck/icons/warning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329732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1546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Post-route results cover a single corner; multi-corner PVT analysis was outside this project's scope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F1E4DA"/>
          </a:solidFill>
          <a:ln/>
        </p:spPr>
      </p:sp>
      <p:pic>
        <p:nvPicPr>
          <p:cNvPr id="12" name="Image 2" descr="/home/claude/deck/icons/warning_c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434888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06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are synthetic, designed to probe threshold-crossing behavior — not drawn from a real application trace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extend the activity-rate gate to other block types, multi-corner verification, and real application traces.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Activity-Rate-Aware Hysteresis Power Gating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02920" cy="502920"/>
          </a:xfrm>
          <a:prstGeom prst="ellipse">
            <a:avLst/>
          </a:prstGeom>
          <a:solidFill>
            <a:srgbClr val="F1E4DA"/>
          </a:solidFill>
          <a:ln/>
        </p:spPr>
      </p:sp>
      <p:pic>
        <p:nvPicPr>
          <p:cNvPr id="3" name="Image 0" descr="/home/claude/deck/icons/check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770839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640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Comparator logic. Real silicon.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clear trade-off.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75208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7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3.1×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975208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under burst traffic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41368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7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13.6%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41368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post-route area overhead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107528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7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8107528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slack — both designs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D8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confirm the proposed design eliminates sleep-state thrashing while converging to baseline-level savings under genuinely idle conditions — at a real, bounded silicon cost.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0" cy="1188720"/>
          </a:xfrm>
          <a:prstGeom prst="ellipse">
            <a:avLst/>
          </a:prstGeom>
          <a:solidFill>
            <a:srgbClr val="E9EDE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212080"/>
            <a:ext cx="1463040" cy="1463040"/>
          </a:xfrm>
          <a:prstGeom prst="ellipse">
            <a:avLst/>
          </a:prstGeom>
          <a:solidFill>
            <a:srgbClr val="E9EDE3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4572000"/>
            <a:ext cx="822960" cy="822960"/>
          </a:xfrm>
          <a:prstGeom prst="ellipse">
            <a:avLst/>
          </a:prstGeom>
          <a:solidFill>
            <a:srgbClr val="F1E4D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90008" y="4114800"/>
            <a:ext cx="2011680" cy="0"/>
          </a:xfrm>
          <a:prstGeom prst="line">
            <a:avLst/>
          </a:prstGeom>
          <a:noFill/>
          <a:ln w="19050">
            <a:solidFill>
              <a:srgbClr val="E9E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Joud Thaher   ·   Layan Salem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47091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Khader Mohammed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0" y="50292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and Computer Engineering — Birzeit University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Activity-Rate-Aware Hysteresis Controller for Adaptive Power Gating</dc:title>
  <dc:subject>PptxGenJS Presentation</dc:subject>
  <dc:creator>Joud Thaher, Layan Salem</dc:creator>
  <cp:lastModifiedBy>Joud Thaher, Layan Salem</cp:lastModifiedBy>
  <cp:revision>1</cp:revision>
  <dcterms:created xsi:type="dcterms:W3CDTF">2026-06-28T23:26:43Z</dcterms:created>
  <dcterms:modified xsi:type="dcterms:W3CDTF">2026-06-28T23:26:43Z</dcterms:modified>
</cp:coreProperties>
</file>