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572000" cy="4572000"/>
          </a:xfrm>
          <a:prstGeom prst="ellipse">
            <a:avLst/>
          </a:prstGeom>
          <a:solidFill>
            <a:srgbClr val="D8E3D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2743200" cy="2743200"/>
          </a:xfrm>
          <a:prstGeom prst="ellipse">
            <a:avLst/>
          </a:prstGeom>
          <a:solidFill>
            <a:srgbClr val="EFE0D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DEFENSE  ·  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eliminates sleep-mode thrashing.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6B8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does it without a single learned model.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Activity-Rate-Aware Hysteresis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for Adaptive Power Gating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Thaher  ·  Layan Salem   —   Supervised by Dr. Khader Mohammed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869680" y="4572000"/>
            <a:ext cx="2697480" cy="1417320"/>
          </a:xfrm>
          <a:prstGeom prst="roundRect">
            <a:avLst>
              <a:gd name="adj" fmla="val 9032"/>
            </a:avLst>
          </a:prstGeom>
          <a:solidFill>
            <a:srgbClr val="F1DDD2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0" y="468172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006840" y="52852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post-route area overhead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thresholds can't tell idle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 from busy-with-gaps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power now dominates total power as nodes shrink.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controllers sleep after a fixed idle-cycle count — regardless of why the gap occurred.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traffic with short gaps above that threshold causes repeated sleep/wake cycles — thrashing.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0" y="23317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D9E4DC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532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bursty workload, seen by a fixed threshold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12280" y="3200400"/>
            <a:ext cx="292608" cy="502920"/>
          </a:xfrm>
          <a:prstGeom prst="rect">
            <a:avLst/>
          </a:prstGeom>
          <a:solidFill>
            <a:srgbClr val="6B8470"/>
          </a:solidFill>
          <a:ln/>
        </p:spPr>
      </p:sp>
      <p:sp>
        <p:nvSpPr>
          <p:cNvPr id="9" name="Shape 7"/>
          <p:cNvSpPr/>
          <p:nvPr/>
        </p:nvSpPr>
        <p:spPr>
          <a:xfrm>
            <a:off x="7370064" y="3813048"/>
            <a:ext cx="128016" cy="128016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10" name="Shape 8"/>
          <p:cNvSpPr/>
          <p:nvPr/>
        </p:nvSpPr>
        <p:spPr>
          <a:xfrm>
            <a:off x="7763256" y="3200400"/>
            <a:ext cx="292608" cy="502920"/>
          </a:xfrm>
          <a:prstGeom prst="rect">
            <a:avLst/>
          </a:prstGeom>
          <a:solidFill>
            <a:srgbClr val="6B8470"/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0" y="3813048"/>
            <a:ext cx="128016" cy="128016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12" name="Shape 10"/>
          <p:cNvSpPr/>
          <p:nvPr/>
        </p:nvSpPr>
        <p:spPr>
          <a:xfrm>
            <a:off x="8714232" y="3200400"/>
            <a:ext cx="292608" cy="502920"/>
          </a:xfrm>
          <a:prstGeom prst="rect">
            <a:avLst/>
          </a:prstGeom>
          <a:solidFill>
            <a:srgbClr val="6B8470"/>
          </a:solidFill>
          <a:ln/>
        </p:spPr>
      </p:sp>
      <p:sp>
        <p:nvSpPr>
          <p:cNvPr id="13" name="Shape 11"/>
          <p:cNvSpPr/>
          <p:nvPr/>
        </p:nvSpPr>
        <p:spPr>
          <a:xfrm>
            <a:off x="9272016" y="3813048"/>
            <a:ext cx="128016" cy="128016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5208" y="3200400"/>
            <a:ext cx="292608" cy="502920"/>
          </a:xfrm>
          <a:prstGeom prst="rect">
            <a:avLst/>
          </a:prstGeom>
          <a:solidFill>
            <a:srgbClr val="6B847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22992" y="3813048"/>
            <a:ext cx="128016" cy="128016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6184" y="3200400"/>
            <a:ext cx="292608" cy="502920"/>
          </a:xfrm>
          <a:prstGeom prst="rect">
            <a:avLst/>
          </a:prstGeom>
          <a:solidFill>
            <a:srgbClr val="6B8470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3703320"/>
            <a:ext cx="4572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6751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idle-cycle threshold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activity      ● false wake-up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wake-up costs latency and energy — sleeping briefly can cost more than it saves.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846320"/>
            <a:ext cx="2377440" cy="2377440"/>
          </a:xfrm>
          <a:prstGeom prst="ellipse">
            <a:avLst/>
          </a:prstGeom>
          <a:solidFill>
            <a:srgbClr val="D8E3D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297680"/>
            <a:ext cx="1371600" cy="1371600"/>
          </a:xfrm>
          <a:prstGeom prst="ellipse">
            <a:avLst/>
          </a:prstGeom>
          <a:solidFill>
            <a:srgbClr val="EFE0D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sleep entry on idle count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activity rate — not idle count alone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1371600" cy="1371600"/>
          </a:xfrm>
          <a:prstGeom prst="ellipse">
            <a:avLst/>
          </a:prstGeom>
          <a:solidFill>
            <a:srgbClr val="D9E4D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Idle-cycle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2331720"/>
            <a:ext cx="1371600" cy="1371600"/>
          </a:xfrm>
          <a:prstGeom prst="ellipse">
            <a:avLst/>
          </a:prstGeom>
          <a:solidFill>
            <a:srgbClr val="D9E4DC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3480" y="3017520"/>
            <a:ext cx="548640" cy="0"/>
          </a:xfrm>
          <a:prstGeom prst="line">
            <a:avLst/>
          </a:prstGeom>
          <a:noFill/>
          <a:ln w="19050">
            <a:solidFill>
              <a:srgbClr val="8C867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623560" y="2240280"/>
            <a:ext cx="1737360" cy="1554480"/>
          </a:xfrm>
          <a:prstGeom prst="roundRect">
            <a:avLst>
              <a:gd name="adj" fmla="val 8824"/>
            </a:avLst>
          </a:prstGeom>
          <a:solidFill>
            <a:srgbClr val="BB7A5A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22402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recent activity is high, both thresholds widen — bursty traffic no longer reads as idle.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2286000"/>
            <a:ext cx="502920" cy="502920"/>
          </a:xfrm>
          <a:prstGeom prst="ellipse">
            <a:avLst/>
          </a:prstGeom>
          <a:solidFill>
            <a:srgbClr val="E8DED2"/>
          </a:solidFill>
          <a:ln/>
        </p:spPr>
      </p:sp>
      <p:pic>
        <p:nvPicPr>
          <p:cNvPr id="17" name="Image 0" descr="/home/claude/deck/icons/bolt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2426818"/>
            <a:ext cx="221285" cy="22128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86968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Comparator-only logic — no multipliers, no learned models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0" y="3200400"/>
            <a:ext cx="502920" cy="502920"/>
          </a:xfrm>
          <a:prstGeom prst="ellipse">
            <a:avLst/>
          </a:prstGeom>
          <a:solidFill>
            <a:srgbClr val="E8DED2"/>
          </a:solidFill>
          <a:ln/>
        </p:spPr>
      </p:sp>
      <p:pic>
        <p:nvPicPr>
          <p:cNvPr id="20" name="Image 1" descr="/home/claude/deck/icons/random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418" y="3341218"/>
            <a:ext cx="221285" cy="2212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86968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widening suppresses sleep during bursts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229600" y="4114800"/>
            <a:ext cx="502920" cy="502920"/>
          </a:xfrm>
          <a:prstGeom prst="ellipse">
            <a:avLst/>
          </a:prstGeom>
          <a:solidFill>
            <a:srgbClr val="E8DED2"/>
          </a:solidFill>
          <a:ln/>
        </p:spPr>
      </p:sp>
      <p:pic>
        <p:nvPicPr>
          <p:cNvPr id="23" name="Image 2" descr="/home/claude/deck/icons/balance_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18" y="4255618"/>
            <a:ext cx="221285" cy="22128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69680" y="4114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single-module-substitution comparison isolates the real variable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power domains, six modules,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substituted block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PD_TOP — always-on control domain (monitor, predictor, FSM, sleep controller)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PD_ALU — power-gated domain (32-bit ALU + MTCMOS footer switch)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hysteresis predictor is the controller's only novel block</a:t>
            </a:r>
            <a:endParaRPr lang="en-US" sz="1400" dirty="0"/>
          </a:p>
        </p:txBody>
      </p:sp>
      <p:pic>
        <p:nvPicPr>
          <p:cNvPr id="6" name="Image 0" descr="/home/claude/architecture_diagram_no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4160520" cy="40773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states govern every transition</a:t>
            </a:r>
            <a:endParaRPr lang="en-US" sz="2800" dirty="0"/>
          </a:p>
        </p:txBody>
      </p:sp>
      <p:pic>
        <p:nvPicPr>
          <p:cNvPr id="5" name="Image 0" descr="/home/claude/fsm_diagram_no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1168" y="1783080"/>
            <a:ext cx="6309360" cy="44516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8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2587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· LS wake-up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31375" y="1920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8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631375" y="25877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· DS wake-up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module swapped.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identical.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206240" cy="3931920"/>
          </a:xfrm>
          <a:prstGeom prst="roundRect">
            <a:avLst>
              <a:gd name="adj" fmla="val 3256"/>
            </a:avLst>
          </a:prstGeom>
          <a:solidFill>
            <a:srgbClr val="E8DED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26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ALU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374136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101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758184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941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Power-state FSM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142232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0782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controller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4622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control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910328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846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power intent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321808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6B847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218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Fixed-threshold predictor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45375" y="2148840"/>
            <a:ext cx="4206240" cy="3931920"/>
          </a:xfrm>
          <a:prstGeom prst="roundRect">
            <a:avLst>
              <a:gd name="adj" fmla="val 3256"/>
            </a:avLst>
          </a:prstGeom>
          <a:solidFill>
            <a:srgbClr val="E8DED2"/>
          </a:solidFill>
          <a:ln/>
        </p:spPr>
      </p:sp>
      <p:sp>
        <p:nvSpPr>
          <p:cNvPr id="22" name="Text 20"/>
          <p:cNvSpPr/>
          <p:nvPr/>
        </p:nvSpPr>
        <p:spPr>
          <a:xfrm>
            <a:off x="7619695" y="2377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19695" y="2990088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24" name="Text 22"/>
          <p:cNvSpPr/>
          <p:nvPr/>
        </p:nvSpPr>
        <p:spPr>
          <a:xfrm>
            <a:off x="7848295" y="2926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ALU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19695" y="3374136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26" name="Text 24"/>
          <p:cNvSpPr/>
          <p:nvPr/>
        </p:nvSpPr>
        <p:spPr>
          <a:xfrm>
            <a:off x="7848295" y="33101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19695" y="3758184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28" name="Text 26"/>
          <p:cNvSpPr/>
          <p:nvPr/>
        </p:nvSpPr>
        <p:spPr>
          <a:xfrm>
            <a:off x="7848295" y="36941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Power-state FSM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19695" y="4142232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30" name="Text 28"/>
          <p:cNvSpPr/>
          <p:nvPr/>
        </p:nvSpPr>
        <p:spPr>
          <a:xfrm>
            <a:off x="7848295" y="40782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controller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619695" y="4526280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32" name="Text 30"/>
          <p:cNvSpPr/>
          <p:nvPr/>
        </p:nvSpPr>
        <p:spPr>
          <a:xfrm>
            <a:off x="7848295" y="44622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control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19695" y="4910328"/>
            <a:ext cx="91440" cy="91440"/>
          </a:xfrm>
          <a:prstGeom prst="ellipse">
            <a:avLst/>
          </a:prstGeom>
          <a:solidFill>
            <a:srgbClr val="1F1F1B"/>
          </a:solidFill>
          <a:ln/>
        </p:spPr>
      </p:sp>
      <p:sp>
        <p:nvSpPr>
          <p:cNvPr id="34" name="Text 32"/>
          <p:cNvSpPr/>
          <p:nvPr/>
        </p:nvSpPr>
        <p:spPr>
          <a:xfrm>
            <a:off x="7848295" y="4846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 power intent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73975" y="5321808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BB7A5A"/>
          </a:solidFill>
          <a:ln/>
        </p:spPr>
      </p:sp>
      <p:sp>
        <p:nvSpPr>
          <p:cNvPr id="36" name="Text 34"/>
          <p:cNvSpPr/>
          <p:nvPr/>
        </p:nvSpPr>
        <p:spPr>
          <a:xfrm>
            <a:off x="7573975" y="53218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predictor (novel)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90008" y="6245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variable that differs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workloads, identical stimulus,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designs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6608" y="2286000"/>
            <a:ext cx="3291840" cy="2743200"/>
          </a:xfrm>
          <a:prstGeom prst="roundRect">
            <a:avLst>
              <a:gd name="adj" fmla="val 4667"/>
            </a:avLst>
          </a:prstGeom>
          <a:solidFill>
            <a:srgbClr val="E8DED2"/>
          </a:solidFill>
          <a:ln/>
        </p:spPr>
      </p:sp>
      <p:sp>
        <p:nvSpPr>
          <p:cNvPr id="6" name="Shape 4"/>
          <p:cNvSpPr/>
          <p:nvPr/>
        </p:nvSpPr>
        <p:spPr>
          <a:xfrm>
            <a:off x="2026768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deck/icons/bolt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593" y="2765146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6608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20928" y="3840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bursts, gaps above the baseline's fixed threshold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49928" y="2286000"/>
            <a:ext cx="3291840" cy="2743200"/>
          </a:xfrm>
          <a:prstGeom prst="roundRect">
            <a:avLst>
              <a:gd name="adj" fmla="val 4667"/>
            </a:avLst>
          </a:prstGeom>
          <a:solidFill>
            <a:srgbClr val="D9E4DC"/>
          </a:solidFill>
          <a:ln/>
        </p:spPr>
      </p:sp>
      <p:sp>
        <p:nvSpPr>
          <p:cNvPr id="11" name="Shape 8"/>
          <p:cNvSpPr/>
          <p:nvPr/>
        </p:nvSpPr>
        <p:spPr>
          <a:xfrm>
            <a:off x="5730088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deck/icons/layers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913" y="2765146"/>
            <a:ext cx="321869" cy="3218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49928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24248" y="3840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unambiguous idle periods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53248" y="2286000"/>
            <a:ext cx="3291840" cy="2743200"/>
          </a:xfrm>
          <a:prstGeom prst="roundRect">
            <a:avLst>
              <a:gd name="adj" fmla="val 4667"/>
            </a:avLst>
          </a:prstGeom>
          <a:solidFill>
            <a:srgbClr val="F1DDD2"/>
          </a:solidFill>
          <a:ln/>
        </p:spPr>
      </p:sp>
      <p:sp>
        <p:nvSpPr>
          <p:cNvPr id="16" name="Shape 12"/>
          <p:cNvSpPr/>
          <p:nvPr/>
        </p:nvSpPr>
        <p:spPr>
          <a:xfrm>
            <a:off x="9433408" y="25603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deck/icons/random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233" y="2765146"/>
            <a:ext cx="321869" cy="3218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3248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27568" y="3840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dense and sparse phases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Synopsys VCS  ·  Design Compiler  ·  IC Compiler II  ·  SAED14LVT 14 nm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transitions vs. nineteen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69568" y="1874520"/>
            <a:ext cx="9052560" cy="2921930"/>
          </a:xfrm>
          <a:prstGeom prst="roundRect">
            <a:avLst>
              <a:gd name="adj" fmla="val 3129"/>
            </a:avLst>
          </a:prstGeom>
          <a:solidFill>
            <a:srgbClr val="FFFFFF"/>
          </a:solidFill>
          <a:ln/>
        </p:spPr>
      </p:sp>
      <p:pic>
        <p:nvPicPr>
          <p:cNvPr id="6" name="Image 0" descr="/mnt/user-data/uploads/waveform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2011680"/>
            <a:ext cx="8778240" cy="26476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488789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workload — power_mode and sleep_n, baseline vs. proposed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71600" y="5486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→ 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371600" y="6153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transitions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07128" y="5486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→ 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4907128" y="6153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events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59775" y="5486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19.3% → 59.3%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59775" y="6016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under bursts. Equally efficient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truly idle.</a:t>
            </a:r>
            <a:endParaRPr lang="en-US" sz="2600" dirty="0"/>
          </a:p>
        </p:txBody>
      </p:sp>
      <p:pic>
        <p:nvPicPr>
          <p:cNvPr id="5" name="Image 0" descr="/home/claude/figs/fig3_transitions_through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2423160"/>
            <a:ext cx="9144000" cy="3952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5398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workload: 33.4% vs. 31.6% leakage saving — within measurement noise, not a real penalty.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bounded cost for a real behavioral win</a:t>
            </a:r>
            <a:endParaRPr lang="en-US" sz="2800" dirty="0"/>
          </a:p>
        </p:txBody>
      </p:sp>
      <p:pic>
        <p:nvPicPr>
          <p:cNvPr id="5" name="Image 0" descr="/home/claude/figs/fig5_area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965960"/>
            <a:ext cx="9509760" cy="40922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241081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+13.6% real post-route area  ·  WNS = TNS = 0.0000 ns on both designs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against prior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hardware?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0"/>
          </a:xfrm>
          <a:prstGeom prst="line">
            <a:avLst/>
          </a:prstGeom>
          <a:noFill/>
          <a:ln w="19050">
            <a:solidFill>
              <a:srgbClr val="D9E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 et al. — multi-level gating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834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Idle-count 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2104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Thrashes under bursts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7216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Karthikeyan et al. — multi-core 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37216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classifier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721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(ML)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3721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multi-core, not one block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608576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1DDD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0857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23360" y="460857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Idle-count + activity 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460857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(comparators)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0" y="460857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+13.6% area, zero thrashing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BB7A5A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300" kern="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doesn't claim — yet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F1DDD2"/>
          </a:solidFill>
          <a:ln/>
        </p:spPr>
      </p:sp>
      <p:pic>
        <p:nvPicPr>
          <p:cNvPr id="6" name="Image 0" descr="/home/claude/deck/icons/warning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24396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2860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comparisons use a derived metric (transitions × wake-up latency), not a first-principles joule measurement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F1DDD2"/>
          </a:solidFill>
          <a:ln/>
        </p:spPr>
      </p:sp>
      <p:pic>
        <p:nvPicPr>
          <p:cNvPr id="9" name="Image 1" descr="/home/claude/deck/icons/warning_c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34911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3375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Post-route results cover a single corner; multi-corner PVT analysis was outside this project's scope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F1DDD2"/>
          </a:solidFill>
          <a:ln/>
        </p:spPr>
      </p:sp>
      <p:pic>
        <p:nvPicPr>
          <p:cNvPr id="12" name="Image 2" descr="/home/claude/deck/icons/warning_c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45427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389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are synthetic, designed to probe threshold-crossing behavior — not drawn from a real application trace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8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extend the activity-rate gate to other block types, multi-corner verification, and real application traces.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 logic. Real silicon.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clear trade-off.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7520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3.1×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75208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under burst traffic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413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13.6%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41368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post-route area overhead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0752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B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107528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slack — both designs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confirm the proposed design eliminates sleep-state thrashing while converging to baseline-level savings under genuinely idle conditions — at a real, bounded silicon cost.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846320"/>
            <a:ext cx="2377440" cy="2377440"/>
          </a:xfrm>
          <a:prstGeom prst="ellipse">
            <a:avLst/>
          </a:prstGeom>
          <a:solidFill>
            <a:srgbClr val="D8E3D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297680"/>
            <a:ext cx="1371600" cy="1371600"/>
          </a:xfrm>
          <a:prstGeom prst="ellipse">
            <a:avLst/>
          </a:prstGeom>
          <a:solidFill>
            <a:srgbClr val="EFE0D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Joud Thaher   ·   Layan Salem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Khader Mohammed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4983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8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and Computer Engineering — Birzeit University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Activity-Rate-Aware Hysteresis Controller for Adaptive Power Gating</dc:title>
  <dc:subject>PptxGenJS Presentation</dc:subject>
  <dc:creator>Joud Thaher, Layan Salem</dc:creator>
  <cp:lastModifiedBy>Joud Thaher, Layan Salem</cp:lastModifiedBy>
  <cp:revision>1</cp:revision>
  <dcterms:created xsi:type="dcterms:W3CDTF">2026-06-28T23:35:20Z</dcterms:created>
  <dcterms:modified xsi:type="dcterms:W3CDTF">2026-06-28T23:35:20Z</dcterms:modified>
</cp:coreProperties>
</file>