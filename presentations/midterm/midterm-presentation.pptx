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charts/chart2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7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76" r:id="rId12"/>
    <p:sldId id="277" r:id="rId13"/>
    <p:sldId id="278" r:id="rId14"/>
    <p:sldId id="279" r:id="rId15"/>
    <p:sldId id="280" r:id="rId16"/>
    <p:sldId id="265" r:id="rId17"/>
    <p:sldId id="266" r:id="rId18"/>
    <p:sldId id="281" r:id="rId19"/>
    <p:sldId id="269" r:id="rId20"/>
    <p:sldId id="285" r:id="rId21"/>
    <p:sldId id="267" r:id="rId22"/>
    <p:sldId id="268" r:id="rId23"/>
    <p:sldId id="284" r:id="rId24"/>
    <p:sldId id="270" r:id="rId25"/>
    <p:sldId id="271" r:id="rId26"/>
    <p:sldId id="273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37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86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Cycle Distribution by Power Mode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Cycles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5A4-468C-BAB2-1A219BBEDB3D}"/>
              </c:ext>
            </c:extLst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5A4-468C-BAB2-1A219BBEDB3D}"/>
              </c:ext>
            </c:extLst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5A4-468C-BAB2-1A219BBEDB3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ON</c:v>
                </c:pt>
                <c:pt idx="1">
                  <c:v>Light Sleep</c:v>
                </c:pt>
                <c:pt idx="2">
                  <c:v>Deep Sleep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327</c:v>
                </c:pt>
                <c:pt idx="1">
                  <c:v>21</c:v>
                </c:pt>
                <c:pt idx="2">
                  <c:v>214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5A4-468C-BAB2-1A219BBEDB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FR" sz="1800" b="0" i="0" u="none" strike="noStrike">
                <a:solidFill>
                  <a:srgbClr val="000000"/>
                </a:solidFill>
                <a:latin typeface="Arial"/>
              </a:rPr>
              <a:t>Cycle Distribution (562 total cycles)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D74-4566-906F-8AAC4954E919}"/>
              </c:ext>
            </c:extLst>
          </c:dPt>
          <c:dPt>
            <c:idx val="1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D74-4566-906F-8AAC4954E919}"/>
              </c:ext>
            </c:extLst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D74-4566-906F-8AAC4954E91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D74-4566-906F-8AAC4954E91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D74-4566-906F-8AAC4954E91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D74-4566-906F-8AAC4954E91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ON (1.0×)</c:v>
                </c:pt>
                <c:pt idx="1">
                  <c:v>Light Sleep (0.81×)</c:v>
                </c:pt>
                <c:pt idx="2">
                  <c:v>Deep Sleep (0.64×)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327</c:v>
                </c:pt>
                <c:pt idx="1">
                  <c:v>21</c:v>
                </c:pt>
                <c:pt idx="2">
                  <c:v>214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D74-4566-906F-8AAC4954E9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897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our Adaptive Multi-Level Power Gating Controller — a lightweight hardware solution for managing leakage power in SoC blocks. We'll walk through our motivation, design, simulation results, and how our approach compares to existing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Leakage power is critical in modern SoCs. Traditional static power gating just switches domains on or off, ignoring workload patterns. This leads to two problems: premature sleep (hurting performance) or no sleep at all (wasting power). Our design monitors actual activity and adapts thresholds dynamically.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70558-51B5-B5F9-BAC2-0B09C722D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C17051-F294-E84E-5BCB-D12E6F1B21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0ED6DD-2548-284F-9014-8D96D8084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Leakage power is critical in modern SoCs. Traditional static power gating just switches domains on or off, ignoring workload patterns. This leads to two problems: premature sleep (hurting performance) or no sleep at all (wasting power). Our design monitors actual activity and adapts thresholds dynamically.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2E1E5-2637-DE9D-0834-519A9C1B1E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938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Activity Monitor uses a 16-bit shift register to track whether the ALU was active each cycle. A combinational pop-count sums active bits. The activity_rate is scaled to 0-255 using a shift, avoiding any multiplier. The idle_count increments monotonically when the ALU is inactive and resets immediately on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novel contribution of our project. Unlike Agarwal's fixed thresholds, we use a dual-condition gate: both idle_count AND activity_rate must satisfy their respective thresholds before entering sleep. Hysteresis bands (different entry vs exit thresholds) prevent oscillation. When a bursty workload is detected (activity_rate &gt; 50%), we widen thresholds by 4 extra cycles.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Power State FSM has 7 states. Two transient states (TO_LS, TO_DS) ensure isolation is asserted before the domain sleeps. Two wake-up states count down the required latency cycles before re-enabling the domain. Light Sleep wake-up takes 3 cycles (state-retentive), Deep Sleep takes 8 cycles (must re-initialize). These values match Agarwal's p4 IBM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Sleep Controller maps FSM states to physical footer transistor control signals. The 4-level footer bias (Active/V2/V1/GND) provides granular leakage control. The rush-current two-phase wake-up (from Chang 2012) prevents the ground bounce that can corrupt registers during fast power-up. Isolation clamping prevents floating ALU outputs from corrupting downstream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design consists of 6 synthesizable Verilog modules totaling approximately 400 lines of RTL. All modules are purely synchronous with a single clock domain. Parameters are all overridable at instantiation. The top-level module is designed for Synopsys DC synthesis with UPF power intent.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reviewed 5 key papers. Agarwal's IBM work (p4) is the closest to ours but uses fixed idle thresholds and no activity rate check. Chang (p5) provides our rush-current technique. Karthikeyan (p1) inspired our monitoring approach but is far too complex for a single SoC block. Our work fills the gap: adaptive, rate-aware, hysteresis-based gating with minimal overhead.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design combines the best aspects of each prior work: Agarwal's multi-level sleep architecture, Chang's rush-current wake-up, and Karthikeyan's rate monitoring — but replaces the ML predictor with a lightweight shift-register popcount, making it synthesizable with minimal area overhead.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synthetic workloads were designed to exercise each corner case of the controller. Workload 1 verifies that hysteresis prevents premature sleep during bursty traffic. Workload 2 verifies that extended idle correctly triggers Light then Deep Sleep. Workload 3 tests the external wake-up override. Workload 4 tests the adaptive threshold widening. Workload 5 verifies the complete sleep and wake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EE2DF-BCBB-B2D0-F8BA-8A15B35D3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DB7B74-BDB1-31AF-6ED3-7E634D9BF3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2314F6-DEA8-B53F-746C-D89B94CEF9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1 shows the burst workload: idle_count never exceeds 2 before being reset, so power_mode stays at 0 (ON). This confirms the hysteresis predictor correctly suppresses sleep during bursty traffic. Screenshot 2 shows the sparse workload: idle_count climbs steadily, triggering LS then DS transitions as expected. The mode transitions visible in the VCS log confirm correct isolation and footer sequencing.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50B8B-C856-6482-34C6-72A82A7B73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363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transition log confirms all critical safety properties. Isolation is always asserted before the power domain is cut. Footer bias steps through V2→V1→GND in the correct order. The external wake-up override correctly forces DS→ON in a single clock edge, followed by the 8-cycle countdown. The result of 0x00000000 while iso_en=1 confirms the isolation cell is working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73181-F80F-63E5-4DC0-B813C8665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222212-D1A2-08CE-3ABF-6E2E772E2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5140F9-2CF6-C667-7698-16A618E67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1 shows the burst workload: idle_count never exceeds 2 before being reset, so power_mode stays at 0 (ON). This confirms the hysteresis predictor correctly suppresses sleep during bursty traffic. Screenshot 2 shows the sparse workload: idle_count climbs steadily, triggering LS then DS transitions as expected. The mode transitions visible in the VCS log confirm correct isolation and footer sequencing.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981E7-872C-E4BA-377B-6F1D5BE79C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561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1 shows the burst workload: idle_count never exceeds 2 before being reset, so power_mode stays at 0 (ON). This confirms the hysteresis predictor correctly suppresses sleep during bursty traffic. Screenshot 2 shows the sparse workload: idle_count climbs steadily, triggering LS then DS transitions as expected. The mode transitions visible in the VCS log confirm correct isolation and footer sequencing.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simulation ran for 562 total cycles across all 5 workloads. The system spent 327 cycles in ON mode (58%), 21 in Light Sleep (4%), and 214 in Deep Sleep (38%). The weighted leakage integral of 480.97 vs baseline 562 gives a 14.4% leakage reduction. With longer idle periods in a real workload, the savings would be higher.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FD179-2A7D-B055-E54B-15E484933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653556-BF84-DAB9-6392-9CBB9288A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5689ED-54DF-331B-A390-E182958AC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simulation ran for 562 total cycles across all 5 workloads. The system spent 327 cycles in ON mode (58%), 21 in Light Sleep (4%), and 214 in Deep Sleep (38%). The weighted leakage integral of 480.97 vs baseline 562 gives a 14.4% leakage reduction. With longer idle periods in a real workload, the savings would be higher.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43C8E-FA9B-A6C6-3BDF-9F98DAEC73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9533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leakage model uses weights from Agarwal's IBM measurements: Light Sleep saves 19%, Deep Sleep saves 36%. Over our 562-cycle simulation (which includes active workloads), we achieved a 14.4% overall saving. In a real system with longer idle periods, the savings would scale significantly — a workload with 70% idle time could achieve 25-30% leakage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four key innovations distinguish us from all prior work. The dual-condition gate is the most critical: adding activity_rate as a second gating condition catches bursty workloads that idle-only detection misses. The adaptive offset is the second key contribution: it automatically widens hysteresis during high-activity periods without any software intervention.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summary, we designed, implemented, and verified a novel adaptive multi-level power gating controller for a 32-bit ALU SoC block. The key innovation is the dual-condition hysteresis predictor that prevents both premature sleep and thrashing. We achieved a 14.4% leakage reduction across our test workloads, with the potential for up to 36% savings in deep-sleep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25083"/>
            <a:ext cx="8686800" cy="3093490"/>
          </a:xfrm>
          <a:prstGeom prst="rect">
            <a:avLst/>
          </a:prstGeom>
          <a:solidFill>
            <a:srgbClr val="0D2137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847579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Multi-Level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96219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Gating Controller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44859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Small SoC Block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632986"/>
            <a:ext cx="1920240" cy="1005840"/>
          </a:xfrm>
          <a:prstGeom prst="rect">
            <a:avLst/>
          </a:prstGeom>
          <a:solidFill>
            <a:srgbClr val="0D3060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66041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413590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States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3632986"/>
            <a:ext cx="1920240" cy="1005840"/>
          </a:xfrm>
          <a:prstGeom prst="rect">
            <a:avLst/>
          </a:prstGeom>
          <a:solidFill>
            <a:srgbClr val="0D3060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366041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06040" y="413590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States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632986"/>
            <a:ext cx="1920240" cy="1005840"/>
          </a:xfrm>
          <a:prstGeom prst="rect">
            <a:avLst/>
          </a:prstGeom>
          <a:solidFill>
            <a:srgbClr val="0D3060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66041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54880" y="413590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Saved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3632986"/>
            <a:ext cx="1920240" cy="1005840"/>
          </a:xfrm>
          <a:prstGeom prst="rect">
            <a:avLst/>
          </a:prstGeom>
          <a:solidFill>
            <a:srgbClr val="0D3060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366041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903720" y="413590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Simulated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27432"/>
          </a:xfrm>
          <a:prstGeom prst="rect">
            <a:avLst/>
          </a:prstGeom>
          <a:solidFill>
            <a:srgbClr val="1E4D7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0" cy="2010978"/>
          </a:xfrm>
          <a:prstGeom prst="rect">
            <a:avLst/>
          </a:prstGeom>
          <a:solidFill>
            <a:srgbClr val="0D2137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68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3749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power dominates in sub-28nm nodes (&gt;40% of total power)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ON/OFF power gating causes premature sleep &amp; thrashing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adaptation to workload patterns ignores burst vs sparse traffic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up latency penalties hurt real-time performance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206240" cy="1920240"/>
          </a:xfrm>
          <a:prstGeom prst="rect">
            <a:avLst/>
          </a:prstGeom>
          <a:solidFill>
            <a:srgbClr val="0D3060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868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09160" y="1207008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hysteresis predictor learns burst vs sparse workloads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Dual-condition gating: idle_count AND activity_rate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sleep: ON → Light Sleep → Deep Sleep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widening during bursty workloads to prevent thrashing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355146"/>
            <a:ext cx="1965960" cy="777240"/>
          </a:xfrm>
          <a:prstGeom prst="rect">
            <a:avLst/>
          </a:prstGeom>
          <a:solidFill>
            <a:srgbClr val="0A1E38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373434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" y="376662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Saving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3355146"/>
            <a:ext cx="1965960" cy="777240"/>
          </a:xfrm>
          <a:prstGeom prst="rect">
            <a:avLst/>
          </a:prstGeom>
          <a:solidFill>
            <a:srgbClr val="0A1E38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3373434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68880" y="376662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Reduction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355146"/>
            <a:ext cx="1965960" cy="777240"/>
          </a:xfrm>
          <a:prstGeom prst="rect">
            <a:avLst/>
          </a:prstGeom>
          <a:solidFill>
            <a:srgbClr val="0A1E38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373434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63440" y="376662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Reduction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3355146"/>
            <a:ext cx="1965960" cy="777240"/>
          </a:xfrm>
          <a:prstGeom prst="rect">
            <a:avLst/>
          </a:prstGeom>
          <a:solidFill>
            <a:srgbClr val="0A1E3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3373434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0" y="376662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Wake-Up Events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56848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SoC ALU block — 32-bit operations, 100 MHz clock, synthesizable RTL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11E91D-5769-AEFD-CCA6-59E3BC9BD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>
            <a:extLst>
              <a:ext uri="{FF2B5EF4-FFF2-40B4-BE49-F238E27FC236}">
                <a16:creationId xmlns:a16="http://schemas.microsoft.com/office/drawing/2014/main" id="{CDD88416-7459-ECE3-74D0-B708BBD34405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77FF"/>
          </a:solidFill>
          <a:ln/>
        </p:spPr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54BF54F7-7183-1F14-5859-ADFF2FFC2FBE}"/>
              </a:ext>
            </a:extLst>
          </p:cNvPr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Top-Level Block Diagram</a:t>
            </a:r>
            <a:endParaRPr lang="en-US" sz="2200" dirty="0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48EC43DC-836F-F5C1-6168-342B166E01A5}"/>
              </a:ext>
            </a:extLst>
          </p:cNvPr>
          <p:cNvSpPr/>
          <p:nvPr/>
        </p:nvSpPr>
        <p:spPr>
          <a:xfrm>
            <a:off x="274320" y="685800"/>
            <a:ext cx="8595360" cy="27432"/>
          </a:xfrm>
          <a:prstGeom prst="rect">
            <a:avLst/>
          </a:prstGeom>
          <a:solidFill>
            <a:srgbClr val="C5D8F0"/>
          </a:solidFill>
          <a:ln/>
        </p:spPr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AC7A3C60-37F9-04BA-1652-836B6892F1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3206" y="425407"/>
            <a:ext cx="5500468" cy="496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283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Activity Monitor — Rolling Window Tracker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27432"/>
          </a:xfrm>
          <a:prstGeom prst="rect">
            <a:avLst/>
          </a:prstGeom>
          <a:solidFill>
            <a:srgbClr val="1E4D7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14832"/>
            <a:ext cx="4114800" cy="3108960"/>
          </a:xfrm>
          <a:prstGeom prst="rect">
            <a:avLst/>
          </a:prstGeom>
          <a:solidFill>
            <a:srgbClr val="0D2137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3840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shift register samples alu_active each cycle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Pop-count gives active cycles in last 16 cycles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activity_rate = popcount × 16  (0–255 scale)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idle_count: consecutive idle cycles (saturates at 255)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is_idle: purely combinational, no latency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multipliers shift + adder tree only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804672"/>
            <a:ext cx="4160520" cy="3108960"/>
          </a:xfrm>
          <a:prstGeom prst="rect">
            <a:avLst/>
          </a:prstGeom>
          <a:solidFill>
            <a:srgbClr val="06111E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8503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RTL (activity_monitor.v)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216152"/>
            <a:ext cx="3886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Shift window — LSB = newest sample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act_window &lt;= {act_window[14:0], alu_active};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Pop-count (combinational)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(i=0;i&lt;16;i=i+1)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pop_count += act_window[i];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Scale to 0-255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(pop_count==16) rate &lt;= 8'd255;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rate &lt;= {pop_count[3:0],4'b0};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Idle counter (saturating)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(alu_active)  idle_count &lt;= 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(idle_count&lt;255) idle_count++;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4041648"/>
            <a:ext cx="2743200" cy="640080"/>
          </a:xfrm>
          <a:prstGeom prst="rect">
            <a:avLst/>
          </a:prstGeom>
          <a:solidFill>
            <a:srgbClr val="0A1E38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0599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idle_count[7:0]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43342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idle cycles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4041648"/>
            <a:ext cx="2743200" cy="640080"/>
          </a:xfrm>
          <a:prstGeom prst="rect">
            <a:avLst/>
          </a:prstGeom>
          <a:solidFill>
            <a:srgbClr val="0A1E38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40599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activity_rate[7:0]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43342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avg (0–255)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4041648"/>
            <a:ext cx="2743200" cy="640080"/>
          </a:xfrm>
          <a:prstGeom prst="rect">
            <a:avLst/>
          </a:prstGeom>
          <a:solidFill>
            <a:srgbClr val="0A1E38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40599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is_idle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43342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cycle idle?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77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Hysteresis Predictor 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27432"/>
          </a:xfrm>
          <a:prstGeom prst="rect">
            <a:avLst/>
          </a:prstGeom>
          <a:solidFill>
            <a:srgbClr val="C5D8F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822960"/>
            <a:ext cx="3017520" cy="3200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8869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252728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Dual-condition gate: idle_count AND activity_rate must both satisfy thresholds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ENTER vs EXIT thresholds create hysteresis band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rapid sleep/wake oscillation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activity_rate &gt; 50%, thresholds widen by ADAPT_OFFSET=4 cycles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Bursty workloads get more time before sleeping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output avoids combinational loops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8229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11880" y="8869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Parameters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93008" y="1252728"/>
          <a:ext cx="2651760" cy="26517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LS_IDLE_ENTER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cycles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DS_IDLE_ENTER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cycles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LS_IDLE_EXIT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cycle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DS_IDLE_EXIT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cycles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LS_RATE_ENTER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&lt;25% activity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DS_RATE_ENTER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&lt;10% activity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HIGH_RATE_THRESH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(bursty)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ADAPT_OFFSET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 cycles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400800" y="822960"/>
            <a:ext cx="2468880" cy="3200400"/>
          </a:xfrm>
          <a:prstGeom prst="rect">
            <a:avLst/>
          </a:prstGeom>
          <a:solidFill>
            <a:srgbClr val="FFFBEF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537960" y="8869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Encoding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37960" y="1280160"/>
            <a:ext cx="219456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37960" y="12984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2'b00  →  ON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537960" y="1828800"/>
            <a:ext cx="219456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37960" y="184708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2'b01  →  LIGHT SLEEP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537960" y="2377440"/>
            <a:ext cx="219456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37960" y="239572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2'b10  →  DEEP SLEEP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46520" y="29260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3/5/8 threshold → Adaptive dual-condition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rate check → activity_rate gate added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Thrashing possible → Hysteresis bands prevent it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State FSM — 7-State Controller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27432"/>
          </a:xfrm>
          <a:prstGeom prst="rect">
            <a:avLst/>
          </a:prstGeom>
          <a:solidFill>
            <a:srgbClr val="1E4D7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868680"/>
            <a:ext cx="1828800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0" y="8869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1188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Operation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PM=00 iso=0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1600" y="1920240"/>
            <a:ext cx="182880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0" y="1938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S_TO_LS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2240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to 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iso=1 asserted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0" y="1920240"/>
            <a:ext cx="1828800" cy="777240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0" y="1938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S_LIGHT_SLEEP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2240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Sleep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PM=01 sleep_n=0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0" y="1920240"/>
            <a:ext cx="18288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0" y="1938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S_TO_DS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2240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to 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isolation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0" y="2971800"/>
            <a:ext cx="182880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0" y="2990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S_DEEP_SLEEP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3291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Sleep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PM=10 max saving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371600" y="3657600"/>
            <a:ext cx="18288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371600" y="36758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S_WAKEUP_LS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3977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3-cycle delay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0" y="3657600"/>
            <a:ext cx="18288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0" y="36758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S_WAKEUP_DS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0" y="3977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8-cycle delay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1645920"/>
            <a:ext cx="0" cy="274320"/>
          </a:xfrm>
          <a:prstGeom prst="line">
            <a:avLst/>
          </a:prstGeom>
          <a:noFill/>
          <a:ln w="12700">
            <a:solidFill>
              <a:srgbClr val="00C8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1645920"/>
            <a:ext cx="0" cy="274320"/>
          </a:xfrm>
          <a:prstGeom prst="line">
            <a:avLst/>
          </a:prstGeom>
          <a:noFill/>
          <a:ln w="12700">
            <a:solidFill>
              <a:srgbClr val="00C8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1645920"/>
            <a:ext cx="1371600" cy="27432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2697480"/>
            <a:ext cx="457200" cy="27432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3749040"/>
            <a:ext cx="0" cy="0"/>
          </a:xfrm>
          <a:prstGeom prst="line">
            <a:avLst/>
          </a:prstGeom>
          <a:noFill/>
          <a:ln w="12700">
            <a:solidFill>
              <a:srgbClr val="00E5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3657600"/>
            <a:ext cx="0" cy="0"/>
          </a:xfrm>
          <a:prstGeom prst="line">
            <a:avLst/>
          </a:prstGeom>
          <a:noFill/>
          <a:ln w="12700">
            <a:solidFill>
              <a:srgbClr val="00E5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175564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sleep_req=LS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943600" y="175564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sleep_req=DS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00400" y="37947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wakeup/req=ON →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64592" y="3200400"/>
            <a:ext cx="1097280" cy="1188720"/>
          </a:xfrm>
          <a:prstGeom prst="rect">
            <a:avLst/>
          </a:prstGeom>
          <a:solidFill>
            <a:srgbClr val="0A1E3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" y="32186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Wake-Up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64592" y="36576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LS: 3 cycles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DS: 8 cycles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77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5 &amp; 6: Sleep Controller + Isolation Control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27432"/>
          </a:xfrm>
          <a:prstGeom prst="rect">
            <a:avLst/>
          </a:prstGeom>
          <a:solidFill>
            <a:srgbClr val="C5D8F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869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Controller (Footer Gate Bias)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52728"/>
          <a:ext cx="3931920" cy="26517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FSM 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footer_sel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rush_ctrl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S_ON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2'b11 (VDD)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2'b11 (FULL)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S_TO_LS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2'b10 (V2)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2'b11 (FULL)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S_LIGHT_SLEEP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2'b01 (V1)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2'b00 (OFF)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S_TO_DS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2'b01 (V1)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2'b00 (OFF)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S_DEEP_SLEEP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2'b00 (GND)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2'b00 (OFF)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S_WAKEUP_LS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2'b10 (V2)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2'b01 (Phase1)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S_WAKEUP_DS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2'b01 (V1)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2'b01 (Phase1)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4617720" y="822960"/>
            <a:ext cx="4160520" cy="1645920"/>
          </a:xfrm>
          <a:prstGeom prst="rect">
            <a:avLst/>
          </a:prstGeom>
          <a:solidFill>
            <a:srgbClr val="FFF8F0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54880" y="8869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Controller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54880" y="125272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 data_out  = iso_en ? 32'd0 : data_in;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 valid_out = iso_en ? 1'b0  : valid_in;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54880" y="18745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ISO_AND standard cells at power domain boundary.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X-propagation when ALU domain is sleeping.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17720" y="2606040"/>
            <a:ext cx="4160520" cy="1508760"/>
          </a:xfrm>
          <a:prstGeom prst="rect">
            <a:avLst/>
          </a:prstGeom>
          <a:solidFill>
            <a:srgbClr val="F0FFF4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54880" y="26700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Rush Current Control (Chang 2012)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54880" y="30175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(RUSH_PHASE1): Small footer fraction ON reduces dI/dt spike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(RUSH_FULL): Full footer enabled normal operation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ground bounce during wake-up from Deep Sleep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Verilog Implementation — Module Hierarchy &amp; Key RTL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27432"/>
          </a:xfrm>
          <a:prstGeom prst="rect">
            <a:avLst/>
          </a:prstGeom>
          <a:solidFill>
            <a:srgbClr val="1E4D7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2926080" cy="3200400"/>
          </a:xfrm>
          <a:prstGeom prst="rect">
            <a:avLst/>
          </a:prstGeom>
          <a:solidFill>
            <a:srgbClr val="06111E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869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Hierarchy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52728"/>
            <a:ext cx="2697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adaptive_pg_top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alu_32bit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activity_monitor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param: WINDOW=16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hysteresis_predictor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param: 8 thresholds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power_state_fsm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param: WU_LS=3,WU_DS=8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sleep_controller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isolation_ctrl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param: DATA_WIDTH=32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822960"/>
            <a:ext cx="5440680" cy="32004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886968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I/O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838832"/>
              </p:ext>
            </p:extLst>
          </p:nvPr>
        </p:nvGraphicFramePr>
        <p:xfrm>
          <a:off x="3429000" y="1252728"/>
          <a:ext cx="5257800" cy="279169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10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0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clk, rst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clock &amp; reset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0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req, op, a, b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1/4/32/32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 operation request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0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result, valid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32/1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Isolated ALU output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0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power_mode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00=ON 01=LS 10=DS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0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sleep_n, iso_en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control signals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0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footer_sel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Footer gate bias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0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rush_ctrl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Rush-current phases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10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wakeup_done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Wake-up complete pulse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0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wakeup_timer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Remaining wake cycles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10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wakeup_req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forced wake-up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74320" y="4187952"/>
            <a:ext cx="201168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41879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74320" y="44988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487168" y="4187952"/>
            <a:ext cx="201168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87168" y="41879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2487168" y="44988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Lines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00016" y="4187952"/>
            <a:ext cx="201168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00016" y="41879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700016" y="44988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Ops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912864" y="4187952"/>
            <a:ext cx="201168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12864" y="41879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Synth.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912864" y="44988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Ready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77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— Background Literature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27432"/>
          </a:xfrm>
          <a:prstGeom prst="rect">
            <a:avLst/>
          </a:prstGeom>
          <a:solidFill>
            <a:srgbClr val="C5D8F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Karthikeyan 2025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workload monitoring + DVFS + core-level PG for multi-core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834640" y="8961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Full-stack adaptive PM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12344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Complex ML overhead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0" y="868680"/>
            <a:ext cx="3017520" cy="640080"/>
          </a:xfrm>
          <a:prstGeom prst="rect">
            <a:avLst/>
          </a:prstGeom>
          <a:solidFill>
            <a:srgbClr val="FFF8E1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89611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Too complex for single block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627632"/>
            <a:ext cx="8595360" cy="749808"/>
          </a:xfrm>
          <a:prstGeom prst="rect">
            <a:avLst/>
          </a:prstGeom>
          <a:solidFill>
            <a:srgbClr val="F0F7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6733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Survey 2025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19751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Survey: DVFS, PG, clock gating, voltage scaling techniques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834640" y="17007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Comprehensive overview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20391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new architecture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60720" y="1673352"/>
            <a:ext cx="3017520" cy="640080"/>
          </a:xfrm>
          <a:prstGeom prst="rect">
            <a:avLst/>
          </a:prstGeom>
          <a:solidFill>
            <a:srgbClr val="FFF8E1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170078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implementation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432304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4780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— Agarwal (IBM)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7797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MTCMOS 3-level PG: Active/Sleep/Dream with fixed idle thresholds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834640" y="250545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Proven leakage savings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284378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Static thresholds; no rate check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60720" y="2478024"/>
            <a:ext cx="3017520" cy="640080"/>
          </a:xfrm>
          <a:prstGeom prst="rect">
            <a:avLst/>
          </a:prstGeom>
          <a:solidFill>
            <a:srgbClr val="FFF8E1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250545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adaptive rate-aware logic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236976"/>
            <a:ext cx="8595360" cy="749808"/>
          </a:xfrm>
          <a:prstGeom prst="rect">
            <a:avLst/>
          </a:prstGeom>
          <a:solidFill>
            <a:srgbClr val="F0F7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2826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— Chang 2012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35844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rush-current control for MTCMOS wake-up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834640" y="3310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Prevents ground bounce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834640" y="36484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activity prediction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60720" y="3282696"/>
            <a:ext cx="3017520" cy="640080"/>
          </a:xfrm>
          <a:prstGeom prst="rect">
            <a:avLst/>
          </a:prstGeom>
          <a:solidFill>
            <a:srgbClr val="FFF8E1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06440" y="331012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sleep-mode decision logic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4041648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0873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 — DVFS+PG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DVFS + power gating for dynamic workloads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83464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Energy-performance optim.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834640" y="44531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Requires voltage regulator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760720" y="4087368"/>
            <a:ext cx="3017520" cy="640080"/>
          </a:xfrm>
          <a:prstGeom prst="rect">
            <a:avLst/>
          </a:prstGeom>
          <a:solidFill>
            <a:srgbClr val="FFF8E1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06440" y="411480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Needs voltage infrastructure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502920" cy="292608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164592"/>
            <a:ext cx="50292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1" i="0">
                <a:solidFill>
                  <a:srgbClr val="E9B44C"/>
                </a:solidFill>
                <a:latin typeface="Calibri"/>
              </a:rPr>
              <a:t>Karthikeyan M. et al.  —  INCOFT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93776"/>
            <a:ext cx="8686800" cy="40233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700" b="1" i="0">
                <a:solidFill>
                  <a:srgbClr val="1A2E45"/>
                </a:solidFill>
                <a:latin typeface="Calibri"/>
              </a:rPr>
              <a:t>Adaptive Power Management Techniques in Multi-Core VLSI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932688"/>
            <a:ext cx="8686800" cy="25603"/>
          </a:xfrm>
          <a:prstGeom prst="rect">
            <a:avLst/>
          </a:prstGeom>
          <a:solidFill>
            <a:srgbClr val="C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" y="100584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900" b="1" i="0">
                <a:solidFill>
                  <a:srgbClr val="E9B44C"/>
                </a:solidFill>
                <a:latin typeface="Calibr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298448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›  Combines real-time workload monitoring, core-level power gating, and DVFS in a multi-core architecture.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1865376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›  Uses K-means clustering + LSTM neural networks to predict workload trends and adjust power states proactively.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2432304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›  Achieves up to 35% overall power savings and ~10 °C temperature reduction vs. static systems.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005840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900" b="1" i="0">
                <a:solidFill>
                  <a:srgbClr val="028090"/>
                </a:solidFill>
                <a:latin typeface="Calibri"/>
              </a:rPr>
              <a:t>WHAT WE ADOPT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316736"/>
            <a:ext cx="54864" cy="43891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8" y="1298448"/>
            <a:ext cx="411480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Concept of classifying workloads (High / Medium / Low) to map to specific power states.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883664"/>
            <a:ext cx="54864" cy="43891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81728" y="1865376"/>
            <a:ext cx="411480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Feedback-loop approach: refine power settings based on real-time activity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07408" y="969264"/>
            <a:ext cx="25603" cy="2834640"/>
          </a:xfrm>
          <a:prstGeom prst="rect">
            <a:avLst/>
          </a:prstGeom>
          <a:solidFill>
            <a:srgbClr val="C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64592" y="3877056"/>
            <a:ext cx="8686800" cy="25603"/>
          </a:xfrm>
          <a:prstGeom prst="rect">
            <a:avLst/>
          </a:prstGeom>
          <a:solidFill>
            <a:srgbClr val="C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4592" y="3931920"/>
            <a:ext cx="4206240" cy="786384"/>
          </a:xfrm>
          <a:prstGeom prst="rect">
            <a:avLst/>
          </a:prstGeom>
          <a:solidFill>
            <a:srgbClr val="FF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" y="3986784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900" b="1" i="0">
                <a:solidFill>
                  <a:srgbClr val="E63946"/>
                </a:solidFill>
                <a:latin typeface="Calibri"/>
              </a:rPr>
              <a:t>⚠  Research Gap: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3986784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00" b="0" i="0">
                <a:solidFill>
                  <a:srgbClr val="7A1010"/>
                </a:solidFill>
                <a:latin typeface="Calibri"/>
              </a:rPr>
              <a:t>ML hardware (LSTM + genetic algorithms) overhead is too large for a single small SoC block.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3931920"/>
            <a:ext cx="4370832" cy="786384"/>
          </a:xfrm>
          <a:prstGeom prst="rect">
            <a:avLst/>
          </a:prstGeom>
          <a:solidFill>
            <a:srgbClr val="E4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3986784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900" b="1" i="0">
                <a:solidFill>
                  <a:srgbClr val="2DC653"/>
                </a:solidFill>
                <a:latin typeface="Calibri"/>
              </a:rPr>
              <a:t>✓  Our Improvement: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986784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00" b="0" i="0">
                <a:solidFill>
                  <a:srgbClr val="0A4A1E"/>
                </a:solidFill>
                <a:latin typeface="Calibri"/>
              </a:rPr>
              <a:t>Replace heavy ML with a lightweight shift-register popcount predictor — &lt;50 FFs, zero DSP blocks.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502920" cy="29260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164592"/>
            <a:ext cx="50292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1" i="0">
                <a:solidFill>
                  <a:srgbClr val="8E44AD"/>
                </a:solidFill>
                <a:latin typeface="Calibri"/>
              </a:rPr>
              <a:t>Ph.D. Thesis  —  2006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93776"/>
            <a:ext cx="8686800" cy="40233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700" b="1" i="0">
                <a:solidFill>
                  <a:srgbClr val="1A2E45"/>
                </a:solidFill>
                <a:latin typeface="Calibri"/>
              </a:rPr>
              <a:t>Circuits for High-Performance Low-Power VLSI Logic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932688"/>
            <a:ext cx="8686800" cy="25603"/>
          </a:xfrm>
          <a:prstGeom prst="rect">
            <a:avLst/>
          </a:prstGeom>
          <a:solidFill>
            <a:srgbClr val="C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" y="100584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900" b="1" i="0">
                <a:solidFill>
                  <a:srgbClr val="8E44AD"/>
                </a:solidFill>
                <a:latin typeface="Calibr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298448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›  Introduces Preset Skewed Static Logic (PSSL) bridging static CMOS and domino logic via speculative evaluation.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1865376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›  Deep analysis of leakage reduction: power gating and multi-threshold voltage CMOS (multi-Vth).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2432304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›  Test chip in TSMC 0.18 µm validates 20–30% energy reduction vs. traditional domino logic.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005840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900" b="1" i="0">
                <a:solidFill>
                  <a:srgbClr val="028090"/>
                </a:solidFill>
                <a:latin typeface="Calibri"/>
              </a:rPr>
              <a:t>WHAT WE ADOPT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316736"/>
            <a:ext cx="54864" cy="43891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8" y="1298448"/>
            <a:ext cx="411480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Using high-threshold sleep transistors (footer devices) to maximise leakage savings.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883664"/>
            <a:ext cx="54864" cy="43891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81728" y="1865376"/>
            <a:ext cx="411480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Modelling subthreshold and gate leakage paths when designing sleep modes.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07408" y="969264"/>
            <a:ext cx="25603" cy="2834640"/>
          </a:xfrm>
          <a:prstGeom prst="rect">
            <a:avLst/>
          </a:prstGeom>
          <a:solidFill>
            <a:srgbClr val="C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64592" y="3877056"/>
            <a:ext cx="8686800" cy="25603"/>
          </a:xfrm>
          <a:prstGeom prst="rect">
            <a:avLst/>
          </a:prstGeom>
          <a:solidFill>
            <a:srgbClr val="C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4592" y="3931920"/>
            <a:ext cx="4206240" cy="786384"/>
          </a:xfrm>
          <a:prstGeom prst="rect">
            <a:avLst/>
          </a:prstGeom>
          <a:solidFill>
            <a:srgbClr val="FF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" y="3986784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900" b="1" i="0">
                <a:solidFill>
                  <a:srgbClr val="E63946"/>
                </a:solidFill>
                <a:latin typeface="Calibri"/>
              </a:rPr>
              <a:t>⚠  Research Gap: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3986784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00" b="0" i="0">
                <a:solidFill>
                  <a:srgbClr val="7A1010"/>
                </a:solidFill>
                <a:latin typeface="Calibri"/>
              </a:rPr>
              <a:t>Focuses on static circuit existence of gating transistors — no adaptive controller to manage them at run-time.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3931920"/>
            <a:ext cx="4370832" cy="786384"/>
          </a:xfrm>
          <a:prstGeom prst="rect">
            <a:avLst/>
          </a:prstGeom>
          <a:solidFill>
            <a:srgbClr val="E4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3986784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900" b="1" i="0">
                <a:solidFill>
                  <a:srgbClr val="2DC653"/>
                </a:solidFill>
                <a:latin typeface="Calibri"/>
              </a:rPr>
              <a:t>✓  Our Improvement: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986784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00" b="0" i="0">
                <a:solidFill>
                  <a:srgbClr val="0A4A1E"/>
                </a:solidFill>
                <a:latin typeface="Calibri"/>
              </a:rPr>
              <a:t>We add an intelligent FSM controller that switches states dynamically based on activity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502920" cy="29260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164592"/>
            <a:ext cx="50292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1" i="0">
                <a:solidFill>
                  <a:srgbClr val="028090"/>
                </a:solidFill>
                <a:latin typeface="Calibri"/>
              </a:rPr>
              <a:t>Agarwal K. et al. — IBM / ISLPED 2006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93776"/>
            <a:ext cx="8686800" cy="40233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700" b="1" i="0">
                <a:solidFill>
                  <a:srgbClr val="1A2E45"/>
                </a:solidFill>
                <a:latin typeface="Calibri"/>
              </a:rPr>
              <a:t>Power Gating with Multiple Sleep Modes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932688"/>
            <a:ext cx="8686800" cy="25603"/>
          </a:xfrm>
          <a:prstGeom prst="rect">
            <a:avLst/>
          </a:prstGeom>
          <a:solidFill>
            <a:srgbClr val="C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" y="100584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900" b="1" i="0">
                <a:solidFill>
                  <a:srgbClr val="028090"/>
                </a:solidFill>
                <a:latin typeface="Calibr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298448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›  Defines three sleep depths (Sleep / Dream / Snore) via footer gate-voltage bias — the origin of multi-level gating.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1865376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›  State-retentive 'Dream' mode saves 13% leakage while preserving data; 'Snore' achieves maximum cut-off.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2432304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›  Multi-mode gives 17% additional leakage savings over single-mode gating on benchmark circuits.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005840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900" b="1" i="0">
                <a:solidFill>
                  <a:srgbClr val="028090"/>
                </a:solidFill>
                <a:latin typeface="Calibri"/>
              </a:rPr>
              <a:t>WHAT WE ADOPT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316736"/>
            <a:ext cx="54864" cy="43891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8" y="1298448"/>
            <a:ext cx="411480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Mode hierarchy: Sleep / Dream / Snore → mapped to our ON / Light Sleep / Deep Sleep.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883664"/>
            <a:ext cx="54864" cy="43891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81728" y="1865376"/>
            <a:ext cx="411480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State-retention logic using intermediate virtual-ground levels to keep data intact in Light Sleep.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07408" y="969264"/>
            <a:ext cx="25603" cy="2834640"/>
          </a:xfrm>
          <a:prstGeom prst="rect">
            <a:avLst/>
          </a:prstGeom>
          <a:solidFill>
            <a:srgbClr val="C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64592" y="3877056"/>
            <a:ext cx="8686800" cy="25603"/>
          </a:xfrm>
          <a:prstGeom prst="rect">
            <a:avLst/>
          </a:prstGeom>
          <a:solidFill>
            <a:srgbClr val="C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4592" y="3931920"/>
            <a:ext cx="4206240" cy="786384"/>
          </a:xfrm>
          <a:prstGeom prst="rect">
            <a:avLst/>
          </a:prstGeom>
          <a:solidFill>
            <a:srgbClr val="FF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" y="3986784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900" b="1" i="0">
                <a:solidFill>
                  <a:srgbClr val="E63946"/>
                </a:solidFill>
                <a:latin typeface="Calibri"/>
              </a:rPr>
              <a:t>⚠  Research Gap: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3986784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00" b="0" i="0">
                <a:solidFill>
                  <a:srgbClr val="7A1010"/>
                </a:solidFill>
                <a:latin typeface="Calibri"/>
              </a:rPr>
              <a:t>Fixed idle-count thresholds (3 / 5 / 8 cycles) — no activity-rate signal, causes thrashing under bursty workloads.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3931920"/>
            <a:ext cx="4370832" cy="786384"/>
          </a:xfrm>
          <a:prstGeom prst="rect">
            <a:avLst/>
          </a:prstGeom>
          <a:solidFill>
            <a:srgbClr val="E4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3986784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900" b="1" i="0">
                <a:solidFill>
                  <a:srgbClr val="2DC653"/>
                </a:solidFill>
                <a:latin typeface="Calibri"/>
              </a:rPr>
              <a:t>✓  Our Improvement: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986784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00" b="0" i="0">
                <a:solidFill>
                  <a:srgbClr val="0A4A1E"/>
                </a:solidFill>
                <a:latin typeface="Calibri"/>
              </a:rPr>
              <a:t>Add adaptive dual-condition predictor: idle_count AND activity_rate both checked; thresholds widen when bursty.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502920" cy="29260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164592"/>
            <a:ext cx="50292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1" i="0">
                <a:solidFill>
                  <a:srgbClr val="02C39A"/>
                </a:solidFill>
                <a:latin typeface="Calibri"/>
              </a:rPr>
              <a:t>Chang C-Y. et al.  —  IEEE ISCAS 2012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93776"/>
            <a:ext cx="8686800" cy="40233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700" b="1" i="0">
                <a:solidFill>
                  <a:srgbClr val="1A2E45"/>
                </a:solidFill>
                <a:latin typeface="Calibri"/>
              </a:rPr>
              <a:t>A Fast Wake-Up Power Gating Technique with Inducing a Balanced Rush Current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932688"/>
            <a:ext cx="8686800" cy="25603"/>
          </a:xfrm>
          <a:prstGeom prst="rect">
            <a:avLst/>
          </a:prstGeom>
          <a:solidFill>
            <a:srgbClr val="C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" y="100584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900" b="1" i="0">
                <a:solidFill>
                  <a:srgbClr val="02C39A"/>
                </a:solidFill>
                <a:latin typeface="Calibr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298448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›  Partitions the footer transistor into two groups (Mp_a1 / Mp_a2) activated in four phases to limit rush current.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1865376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›  Balances dI/dt variations during wake-up, reducing ground bounce and protecting adjacent active circuits.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2432304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›  Demonstrated 10.23% faster wake-up on a 40-bit ALU while staying within noise specifications.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005840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900" b="1" i="0">
                <a:solidFill>
                  <a:srgbClr val="028090"/>
                </a:solidFill>
                <a:latin typeface="Calibri"/>
              </a:rPr>
              <a:t>WHAT WE ADOPT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316736"/>
            <a:ext cx="54864" cy="43891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8" y="1298448"/>
            <a:ext cx="411480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Two-phase activation: enable small footer fraction first (RUSH_PHASE1), then full width (RUSH_FULL).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883664"/>
            <a:ext cx="54864" cy="43891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81728" y="1865376"/>
            <a:ext cx="411480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Slew-rate control of state transitions to manage current spikes during Deep Sleep wake-up.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07408" y="969264"/>
            <a:ext cx="25603" cy="2834640"/>
          </a:xfrm>
          <a:prstGeom prst="rect">
            <a:avLst/>
          </a:prstGeom>
          <a:solidFill>
            <a:srgbClr val="C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64592" y="3877056"/>
            <a:ext cx="8686800" cy="25603"/>
          </a:xfrm>
          <a:prstGeom prst="rect">
            <a:avLst/>
          </a:prstGeom>
          <a:solidFill>
            <a:srgbClr val="C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4592" y="3931920"/>
            <a:ext cx="4206240" cy="786384"/>
          </a:xfrm>
          <a:prstGeom prst="rect">
            <a:avLst/>
          </a:prstGeom>
          <a:solidFill>
            <a:srgbClr val="FF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" y="3986784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900" b="1" i="0">
                <a:solidFill>
                  <a:srgbClr val="E63946"/>
                </a:solidFill>
                <a:latin typeface="Calibri"/>
              </a:rPr>
              <a:t>⚠  Research Gap: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3986784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00" b="0" i="0">
                <a:solidFill>
                  <a:srgbClr val="7A1010"/>
                </a:solidFill>
                <a:latin typeface="Calibri"/>
              </a:rPr>
              <a:t>Addresses only the ON↔OFF transition — binary states, no intermediate sleep depths or decision logic.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3931920"/>
            <a:ext cx="4370832" cy="786384"/>
          </a:xfrm>
          <a:prstGeom prst="rect">
            <a:avLst/>
          </a:prstGeom>
          <a:solidFill>
            <a:srgbClr val="E4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3986784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900" b="1" i="0">
                <a:solidFill>
                  <a:srgbClr val="2DC653"/>
                </a:solidFill>
                <a:latin typeface="Calibri"/>
              </a:rPr>
              <a:t>✓  Our Improvement: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986784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00" b="0" i="0">
                <a:solidFill>
                  <a:srgbClr val="0A4A1E"/>
                </a:solidFill>
                <a:latin typeface="Calibri"/>
              </a:rPr>
              <a:t>Integrate two-phase wake-up into a 3-level sleep controller via rush_ctrl[1:0] — fully synthesizable RTL.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502920" cy="29260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164592"/>
            <a:ext cx="50292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1" i="0">
                <a:solidFill>
                  <a:srgbClr val="00A896"/>
                </a:solidFill>
                <a:latin typeface="Calibri"/>
              </a:rPr>
              <a:t>Shiva G.A. et al.  —  IJES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93776"/>
            <a:ext cx="8686800" cy="40233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700" b="1" i="0">
                <a:solidFill>
                  <a:srgbClr val="1A2E45"/>
                </a:solidFill>
                <a:latin typeface="Calibri"/>
              </a:rPr>
              <a:t>Dynamic Voltage Scaling For Low-Power VLSI Design: A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932688"/>
            <a:ext cx="8686800" cy="25603"/>
          </a:xfrm>
          <a:prstGeom prst="rect">
            <a:avLst/>
          </a:prstGeom>
          <a:solidFill>
            <a:srgbClr val="C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" y="100584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900" b="1" i="0">
                <a:solidFill>
                  <a:srgbClr val="00A896"/>
                </a:solidFill>
                <a:latin typeface="Calibr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298448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›  Comprehensive survey of DVS / DVFS techniques: leakage vs. dynamic power trade-offs, multi-level VDD selection.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1865376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›  Classifies strategies as Predictive, Reactive, and AI-driven; notes DVS can reduce power by up to 45%.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2432304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›  Identifies AI-assisted predictive management as the most efficient direction for heterogeneous SoC systems.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005840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900" b="1" i="0">
                <a:solidFill>
                  <a:srgbClr val="028090"/>
                </a:solidFill>
                <a:latin typeface="Calibri"/>
              </a:rPr>
              <a:t>WHAT WE ADOPT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316736"/>
            <a:ext cx="54864" cy="43891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8" y="1298448"/>
            <a:ext cx="411480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Design our controller as a 'Reactive with History-based Predictive' hybrid — best of both categories.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883664"/>
            <a:ext cx="54864" cy="43891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81728" y="1865376"/>
            <a:ext cx="411480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Use Power-Delay Product (PDP) as primary evaluation metric, as recommended by this survey.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07408" y="969264"/>
            <a:ext cx="25603" cy="2834640"/>
          </a:xfrm>
          <a:prstGeom prst="rect">
            <a:avLst/>
          </a:prstGeom>
          <a:solidFill>
            <a:srgbClr val="C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64592" y="3877056"/>
            <a:ext cx="8686800" cy="25603"/>
          </a:xfrm>
          <a:prstGeom prst="rect">
            <a:avLst/>
          </a:prstGeom>
          <a:solidFill>
            <a:srgbClr val="C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4592" y="3931920"/>
            <a:ext cx="4206240" cy="786384"/>
          </a:xfrm>
          <a:prstGeom prst="rect">
            <a:avLst/>
          </a:prstGeom>
          <a:solidFill>
            <a:srgbClr val="FF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" y="3986784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900" b="1" i="0">
                <a:solidFill>
                  <a:srgbClr val="E63946"/>
                </a:solidFill>
                <a:latin typeface="Calibri"/>
              </a:rPr>
              <a:t>⚠  Research Gap: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3986784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00" b="0" i="0">
                <a:solidFill>
                  <a:srgbClr val="7A1010"/>
                </a:solidFill>
                <a:latin typeface="Calibri"/>
              </a:rPr>
              <a:t>Review only — no circuit schematics or silicon data. Promotes complex AI/ML solutions unsuitable for small blocks.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3931920"/>
            <a:ext cx="4370832" cy="786384"/>
          </a:xfrm>
          <a:prstGeom prst="rect">
            <a:avLst/>
          </a:prstGeom>
          <a:solidFill>
            <a:srgbClr val="E4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3986784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900" b="1" i="0">
                <a:solidFill>
                  <a:srgbClr val="2DC653"/>
                </a:solidFill>
                <a:latin typeface="Calibri"/>
              </a:rPr>
              <a:t>✓  Our Improvement: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986784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00" b="0" i="0">
                <a:solidFill>
                  <a:srgbClr val="0A4A1E"/>
                </a:solidFill>
                <a:latin typeface="Calibri"/>
              </a:rPr>
              <a:t>We provide the actual lightweight hardware logic (counters, comparators, FSM) that this review only discusses.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502920" cy="292608"/>
          </a:xfrm>
          <a:prstGeom prst="rect">
            <a:avLst/>
          </a:prstGeom>
          <a:solidFill>
            <a:srgbClr val="5B8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164592"/>
            <a:ext cx="502920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1" i="0">
                <a:solidFill>
                  <a:srgbClr val="5B8DD9"/>
                </a:solidFill>
                <a:latin typeface="Calibri"/>
              </a:rPr>
              <a:t>Lyapunov Optimization Study  —  IIoT / MEC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93776"/>
            <a:ext cx="8686800" cy="40233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700" b="1" i="0">
                <a:solidFill>
                  <a:srgbClr val="1A2E45"/>
                </a:solidFill>
                <a:latin typeface="Calibri"/>
              </a:rPr>
              <a:t>Maximizing Energy Efficiency of WPT for MEC in IIoT: A Lyapunov Optimization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932688"/>
            <a:ext cx="8686800" cy="25603"/>
          </a:xfrm>
          <a:prstGeom prst="rect">
            <a:avLst/>
          </a:prstGeom>
          <a:solidFill>
            <a:srgbClr val="C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" y="100584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900" b="1" i="0">
                <a:solidFill>
                  <a:srgbClr val="5B8DD9"/>
                </a:solidFill>
                <a:latin typeface="Calibr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298448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›  Builds a stochastic optimization model for task offloading using Lyapunov stability theory and virtual power queues.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1865376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›  Maximises processed data bits per unit of energy while ensuring long-term queue stability in IIoT devices.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2432304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›  Provides a rigorous mathematical framework for managing randomness in energy arrivals and task demands.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005840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900" b="1" i="0">
                <a:solidFill>
                  <a:srgbClr val="028090"/>
                </a:solidFill>
                <a:latin typeface="Calibri"/>
              </a:rPr>
              <a:t>WHAT WE ADOPT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316736"/>
            <a:ext cx="54864" cy="43891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8" y="1298448"/>
            <a:ext cx="411480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Queue-based logic: internal task-buffer backlog as a proxy for block activity level.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883664"/>
            <a:ext cx="54864" cy="43891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81728" y="1865376"/>
            <a:ext cx="411480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50" b="0" i="0">
                <a:solidFill>
                  <a:srgbClr val="2C4A5A"/>
                </a:solidFill>
                <a:latin typeface="Calibri"/>
              </a:rPr>
              <a:t>Stability constraints: ensure that sleep states do not create performance bottlenecks or task congestion.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07408" y="969264"/>
            <a:ext cx="25603" cy="2834640"/>
          </a:xfrm>
          <a:prstGeom prst="rect">
            <a:avLst/>
          </a:prstGeom>
          <a:solidFill>
            <a:srgbClr val="C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64592" y="3877056"/>
            <a:ext cx="8686800" cy="25603"/>
          </a:xfrm>
          <a:prstGeom prst="rect">
            <a:avLst/>
          </a:prstGeom>
          <a:solidFill>
            <a:srgbClr val="C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4592" y="3931920"/>
            <a:ext cx="4206240" cy="786384"/>
          </a:xfrm>
          <a:prstGeom prst="rect">
            <a:avLst/>
          </a:prstGeom>
          <a:solidFill>
            <a:srgbClr val="FF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" y="3986784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900" b="1" i="0">
                <a:solidFill>
                  <a:srgbClr val="E63946"/>
                </a:solidFill>
                <a:latin typeface="Calibri"/>
              </a:rPr>
              <a:t>⚠  Research Gap: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3986784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00" b="0" i="0">
                <a:solidFill>
                  <a:srgbClr val="7A1010"/>
                </a:solidFill>
                <a:latin typeface="Calibri"/>
              </a:rPr>
              <a:t>Focused on network-level task offloading — Lyapunov math is too complex to translate into gate-level logic.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3931920"/>
            <a:ext cx="4370832" cy="786384"/>
          </a:xfrm>
          <a:prstGeom prst="rect">
            <a:avLst/>
          </a:prstGeom>
          <a:solidFill>
            <a:srgbClr val="E4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3986784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900" b="1" i="0">
                <a:solidFill>
                  <a:srgbClr val="2DC653"/>
                </a:solidFill>
                <a:latin typeface="Calibri"/>
              </a:rPr>
              <a:t>✓  Our Improvement: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986784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000" b="0" i="0">
                <a:solidFill>
                  <a:srgbClr val="0A4A1E"/>
                </a:solidFill>
                <a:latin typeface="Calibri"/>
              </a:rPr>
              <a:t>We shift focus to local leakage reduction via multi-level sleep modes using simple hardware counters.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Prior Art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27432"/>
          </a:xfrm>
          <a:prstGeom prst="rect">
            <a:avLst/>
          </a:prstGeom>
          <a:solidFill>
            <a:srgbClr val="1E4D78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046800"/>
              </p:ext>
            </p:extLst>
          </p:nvPr>
        </p:nvGraphicFramePr>
        <p:xfrm>
          <a:off x="274320" y="841248"/>
          <a:ext cx="8595360" cy="40233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Agarwal (p4)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 (p5)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Karthikeyan (p1)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Levels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(A/S/D)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(ON/OFF)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Multi-level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+ transitions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thresh.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model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hyst.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Rate-Aware?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(ML)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(shift-reg)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Hysteresis?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bands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Rush-Current?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(2-phase)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(2-phase)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HW Overhead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(ML)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(counters)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Synthesizable?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(DC ready)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Thrash Guard?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(adapt. offset)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77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— 5 Workload Test Scenarios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27432"/>
          </a:xfrm>
          <a:prstGeom prst="rect">
            <a:avLst/>
          </a:prstGeom>
          <a:solidFill>
            <a:srgbClr val="C5D8F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137160" cy="6858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868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WL1: BURST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1704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ops × 8 bursts, 2-cycle idle gaps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93268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Stays in ON — adaptive threshold prevents premature sleep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13716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627632"/>
            <a:ext cx="8412480" cy="713232"/>
          </a:xfrm>
          <a:prstGeom prst="rect">
            <a:avLst/>
          </a:prstGeom>
          <a:solidFill>
            <a:srgbClr val="F5F9FF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16733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WL2: SPARSE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19751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op per 20-cycle idle gaps × 6 iterations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17373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Transitions ON→LS→DS — long idle exceeds thresholds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432304"/>
            <a:ext cx="137160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432304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24780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WL3: EXT WAKEUP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27797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deep sleep then assert wakeup_req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2542032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DS→ON in 8 cycles — wakeup_done pulses at completion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236976"/>
            <a:ext cx="13716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236976"/>
            <a:ext cx="8412480" cy="713232"/>
          </a:xfrm>
          <a:prstGeom prst="rect">
            <a:avLst/>
          </a:prstGeom>
          <a:solidFill>
            <a:srgbClr val="F5F9FF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2826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WL4: MIXED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5844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phase (15 ops) then sparse (12-cycle gaps)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34640" y="3346704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Adaptive: dense phase stays ON, sparse phase enters 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041648"/>
            <a:ext cx="137160" cy="6858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041648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40873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WL5: SUSTAINED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consecutive idle cycles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34640" y="415137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Full DS cycle entered and verified; result=0x00010000 after wake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48188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workloads verified against expected behavior in Synopsys VCS — see waveforms →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9F4EEE-22C7-837B-4EF8-229B3DC3E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08C0B96-3420-680C-B9AB-71D2C70D2AF8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5641228-F829-2B0B-1977-E6B5E15ADBFF}"/>
              </a:ext>
            </a:extLst>
          </p:cNvPr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Waveforms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CE9EB40-8961-FB66-016A-056FBF80E9E2}"/>
              </a:ext>
            </a:extLst>
          </p:cNvPr>
          <p:cNvSpPr/>
          <p:nvPr/>
        </p:nvSpPr>
        <p:spPr>
          <a:xfrm>
            <a:off x="274320" y="685800"/>
            <a:ext cx="8595360" cy="27432"/>
          </a:xfrm>
          <a:prstGeom prst="rect">
            <a:avLst/>
          </a:prstGeom>
          <a:solidFill>
            <a:srgbClr val="1E4D78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FAD06D8-2230-B861-9663-CC800C72E8F7}"/>
              </a:ext>
            </a:extLst>
          </p:cNvPr>
          <p:cNvSpPr/>
          <p:nvPr/>
        </p:nvSpPr>
        <p:spPr>
          <a:xfrm>
            <a:off x="411480" y="11887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16C0AC1-915A-CE21-0B37-7E8325F8C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103" y="823105"/>
            <a:ext cx="3777577" cy="339408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E640CAF-1251-0856-854A-C38C9A5A5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823106"/>
            <a:ext cx="4515120" cy="339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81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Transition Analysis — VCS Simulation Log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27432"/>
          </a:xfrm>
          <a:prstGeom prst="rect">
            <a:avLst/>
          </a:prstGeom>
          <a:solidFill>
            <a:srgbClr val="1E4D7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754880" cy="3840480"/>
          </a:xfrm>
          <a:prstGeom prst="rect">
            <a:avLst/>
          </a:prstGeom>
          <a:solidFill>
            <a:srgbClr val="06111E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8696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WL3: External Wake-Up from Deep Sleep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44805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[WAKEUP] Before req: mode=2 ✓ (DS)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[T=3255000] 2→0  iso=0 slp=1 f=01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[WAKEUP] After done: mode=0 ✓ (ON)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WL4: Mixed (alternating dense/sparse)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[T=4715000] 0→1  iso=1 slp=0 f=10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[T=4765000] 1→0  iso=1 slp=0 f=10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[T=4785000] 0→1  iso=1 slp=0 f=10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[T=4815000] 1→2  iso=1 slp=0 f=01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[T=4945000] 2→0  iso=0 slp=1 f=01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WL5: Sustained Idle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[T=5555000] 2→0  iso=0 slp=1 f=01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[IDLE] mode after 35 cycles = 2 ✓ DS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[IDLE→ON] result=0x00000000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(iso still active — expected!)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[T=5675000] 2→0  iso=0 slp=1 f=01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12080" y="822960"/>
            <a:ext cx="3657600" cy="38404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49240" y="8869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49240" y="1298448"/>
            <a:ext cx="73152" cy="4572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129844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Isolation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153619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iso_en=1 always asserted BEFORE sleep_n=0 — domain boundary safe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49240" y="1892808"/>
            <a:ext cx="73152" cy="4572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189280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Sequencing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213055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f=10 (V2) on entry to LS, f=01 (V1) in LS, f=00 (GND) in 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49240" y="2487168"/>
            <a:ext cx="73152" cy="4572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248716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Wake-Up Latency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272491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DS→ON verified: 8-cycle timer counts down correctly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49240" y="3081528"/>
            <a:ext cx="73152" cy="4572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308152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Result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331927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result=0x00000000 while iso_en=1 — correct ISO_AND behavior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49240" y="3675888"/>
            <a:ext cx="73152" cy="4572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367588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Transitions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391363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infinite oscillation — hysteresis bands are effective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49240" y="4270248"/>
            <a:ext cx="73152" cy="4572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0" y="427024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Wake Events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450799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verified: either from external req or predictor's REQ_ON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956932-56B4-E368-1A04-1BBA372BF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3E1DF78-DAFD-B457-77E0-E1325BF72AEF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E95653B-3783-718A-80B2-BCC54C495944}"/>
              </a:ext>
            </a:extLst>
          </p:cNvPr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Waveforms — WL1 Burst &amp; WL2 Sparse (DVE/VCS)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97443A-270E-AD51-7C7B-56E0D1DA7059}"/>
              </a:ext>
            </a:extLst>
          </p:cNvPr>
          <p:cNvSpPr/>
          <p:nvPr/>
        </p:nvSpPr>
        <p:spPr>
          <a:xfrm>
            <a:off x="274320" y="685800"/>
            <a:ext cx="8595360" cy="27432"/>
          </a:xfrm>
          <a:prstGeom prst="rect">
            <a:avLst/>
          </a:prstGeom>
          <a:solidFill>
            <a:srgbClr val="1E4D78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73ED34A-F649-CF0E-DCFC-9D27B4E0EE37}"/>
              </a:ext>
            </a:extLst>
          </p:cNvPr>
          <p:cNvSpPr/>
          <p:nvPr/>
        </p:nvSpPr>
        <p:spPr>
          <a:xfrm>
            <a:off x="274320" y="822960"/>
            <a:ext cx="8595360" cy="4045164"/>
          </a:xfrm>
          <a:prstGeom prst="rect">
            <a:avLst/>
          </a:prstGeom>
          <a:solidFill>
            <a:srgbClr val="06111E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2E8123E-CFA2-939E-18E9-D7645CF9B0EF}"/>
              </a:ext>
            </a:extLst>
          </p:cNvPr>
          <p:cNvSpPr/>
          <p:nvPr/>
        </p:nvSpPr>
        <p:spPr>
          <a:xfrm>
            <a:off x="411480" y="868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WL1: BURST WAVEFORM</a:t>
            </a: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A7362AE-5D2E-5CDE-57D7-1E85531C12AC}"/>
              </a:ext>
            </a:extLst>
          </p:cNvPr>
          <p:cNvSpPr/>
          <p:nvPr/>
        </p:nvSpPr>
        <p:spPr>
          <a:xfrm>
            <a:off x="411480" y="11887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581FF13-92C3-EAF2-C41D-A6B0C0D68513}"/>
              </a:ext>
            </a:extLst>
          </p:cNvPr>
          <p:cNvSpPr/>
          <p:nvPr/>
        </p:nvSpPr>
        <p:spPr>
          <a:xfrm>
            <a:off x="2434680" y="3916249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idle_count toggles 00→01→02→00 (bursts keep resetting it)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power_mode stays at 0 (ON) throughout — hysteresis working correctly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iso_en remains 0 — no isolation triggered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2121B74-E1E2-4678-4AF0-A0FBB2071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901" y="1188720"/>
            <a:ext cx="5176911" cy="277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000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Waveforms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27432"/>
          </a:xfrm>
          <a:prstGeom prst="rect">
            <a:avLst/>
          </a:prstGeom>
          <a:solidFill>
            <a:srgbClr val="1E4D7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887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19" y="787794"/>
            <a:ext cx="6175717" cy="4171069"/>
          </a:xfrm>
          <a:prstGeom prst="rect">
            <a:avLst/>
          </a:prstGeom>
          <a:solidFill>
            <a:srgbClr val="06111E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1480" y="742073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WL2: SPARSE WAVEFORM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027569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idle_count ramps past LS threshold (3) then DS threshold (8)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transitions: ON→LS→DS observed at expected cycle counts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iso_en asserts before sleep_n deasserts — correct sequencing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01268" y="822960"/>
            <a:ext cx="2275445" cy="4023360"/>
          </a:xfrm>
          <a:prstGeom prst="rect">
            <a:avLst/>
          </a:prstGeom>
          <a:solidFill>
            <a:srgbClr val="06111E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15338" y="8869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 Simulation Log (WL2 transitions)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01269" y="1188720"/>
            <a:ext cx="2514600" cy="17303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[T=1885000] 0→1 iso=1 slp=0 f=10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[T=1925000] 1→2 iso=1 slp=0 f=01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[T=2075000] 2→0 iso=0 slp=1 f=01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[T=2085000] 0→1 iso=1 slp=0 f=11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[T=2095000] 1→2 iso=1 slp=0 f=01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[T=2285000] 2→0 iso=0 slp=1 f=01</a:t>
            </a:r>
            <a:endParaRPr lang="en-US" sz="900" dirty="0"/>
          </a:p>
          <a:p>
            <a:pPr marL="0" indent="0">
              <a:buNone/>
            </a:pPr>
            <a:endParaRPr lang="en-US" sz="900" dirty="0">
              <a:solidFill>
                <a:srgbClr val="00E5A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BURST mode=0 ✓ (expected ON)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SPARSE mode=2 ✓ (expected DS)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17754D5-CBEA-40DF-C36E-7B68A90576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1207" y="1000917"/>
            <a:ext cx="6060905" cy="316468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77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 — Key Performance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27432"/>
          </a:xfrm>
          <a:prstGeom prst="rect">
            <a:avLst/>
          </a:prstGeom>
          <a:solidFill>
            <a:srgbClr val="C5D8F0"/>
          </a:solidFill>
          <a:ln/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CB89980-CE7B-86E7-6888-411AC0CD8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927" y="667512"/>
            <a:ext cx="5700973" cy="439498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89EC7A-8D8B-B332-F252-BA6BE45C5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E6247B9-E044-089C-3147-31BA8B80A223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77FF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D49BC25-68FE-85B2-5B86-55CB0F499207}"/>
              </a:ext>
            </a:extLst>
          </p:cNvPr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 — Key Performance Metrics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55FD977-F8B6-C53C-81C8-522682EE77E9}"/>
              </a:ext>
            </a:extLst>
          </p:cNvPr>
          <p:cNvSpPr/>
          <p:nvPr/>
        </p:nvSpPr>
        <p:spPr>
          <a:xfrm>
            <a:off x="274320" y="685800"/>
            <a:ext cx="8595360" cy="27432"/>
          </a:xfrm>
          <a:prstGeom prst="rect">
            <a:avLst/>
          </a:prstGeom>
          <a:solidFill>
            <a:srgbClr val="C5D8F0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A0C389D-59B8-B8C6-AD0A-4C749F624C1E}"/>
              </a:ext>
            </a:extLst>
          </p:cNvPr>
          <p:cNvSpPr/>
          <p:nvPr/>
        </p:nvSpPr>
        <p:spPr>
          <a:xfrm>
            <a:off x="274320" y="82296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BB31467-481A-9BFC-9C43-B5158FF34C89}"/>
              </a:ext>
            </a:extLst>
          </p:cNvPr>
          <p:cNvSpPr/>
          <p:nvPr/>
        </p:nvSpPr>
        <p:spPr>
          <a:xfrm>
            <a:off x="274320" y="85039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562</a:t>
            </a:r>
            <a:endParaRPr lang="en-US" sz="3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ED21BB9-B058-E62B-58D4-23C1A9AB5424}"/>
              </a:ext>
            </a:extLst>
          </p:cNvPr>
          <p:cNvSpPr/>
          <p:nvPr/>
        </p:nvSpPr>
        <p:spPr>
          <a:xfrm>
            <a:off x="274320" y="1371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Cycles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FEDC82C-42E1-16F1-0AD7-553FA8B0588A}"/>
              </a:ext>
            </a:extLst>
          </p:cNvPr>
          <p:cNvSpPr/>
          <p:nvPr/>
        </p:nvSpPr>
        <p:spPr>
          <a:xfrm>
            <a:off x="2487168" y="82296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FDC9C4E-8BEB-5915-B14B-A8C61D981385}"/>
              </a:ext>
            </a:extLst>
          </p:cNvPr>
          <p:cNvSpPr/>
          <p:nvPr/>
        </p:nvSpPr>
        <p:spPr>
          <a:xfrm>
            <a:off x="2487168" y="85039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327</a:t>
            </a:r>
            <a:endParaRPr lang="en-US" sz="3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945A154-C305-866F-59C8-D51C686D59F4}"/>
              </a:ext>
            </a:extLst>
          </p:cNvPr>
          <p:cNvSpPr/>
          <p:nvPr/>
        </p:nvSpPr>
        <p:spPr>
          <a:xfrm>
            <a:off x="2487168" y="1371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ON (58.2%)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E8AEA30-819F-FC8B-75FC-ACB5969D1E8C}"/>
              </a:ext>
            </a:extLst>
          </p:cNvPr>
          <p:cNvSpPr/>
          <p:nvPr/>
        </p:nvSpPr>
        <p:spPr>
          <a:xfrm>
            <a:off x="4700016" y="82296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A1285DE-F1C2-FA5E-0E5C-6DF5281FA975}"/>
              </a:ext>
            </a:extLst>
          </p:cNvPr>
          <p:cNvSpPr/>
          <p:nvPr/>
        </p:nvSpPr>
        <p:spPr>
          <a:xfrm>
            <a:off x="4700016" y="85039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D2C0D04-1A47-1435-81CF-9D209884177E}"/>
              </a:ext>
            </a:extLst>
          </p:cNvPr>
          <p:cNvSpPr/>
          <p:nvPr/>
        </p:nvSpPr>
        <p:spPr>
          <a:xfrm>
            <a:off x="4700016" y="1371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LS (3.7%)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2DA5D4C-3DD1-489F-F70B-2884A2EB6BB6}"/>
              </a:ext>
            </a:extLst>
          </p:cNvPr>
          <p:cNvSpPr/>
          <p:nvPr/>
        </p:nvSpPr>
        <p:spPr>
          <a:xfrm>
            <a:off x="6912864" y="82296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0EBDB6C-76E4-02EE-2FD2-7CB15A1D18F4}"/>
              </a:ext>
            </a:extLst>
          </p:cNvPr>
          <p:cNvSpPr/>
          <p:nvPr/>
        </p:nvSpPr>
        <p:spPr>
          <a:xfrm>
            <a:off x="6912864" y="85039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</a:t>
            </a:r>
            <a:endParaRPr lang="en-US" sz="3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FA83E46-760E-DD06-0B51-729844E9AAF0}"/>
              </a:ext>
            </a:extLst>
          </p:cNvPr>
          <p:cNvSpPr/>
          <p:nvPr/>
        </p:nvSpPr>
        <p:spPr>
          <a:xfrm>
            <a:off x="6912864" y="1371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DS (38.1%)</a:t>
            </a:r>
            <a:endParaRPr lang="en-US" sz="1100" dirty="0"/>
          </a:p>
        </p:txBody>
      </p:sp>
      <p:graphicFrame>
        <p:nvGraphicFramePr>
          <p:cNvPr id="17" name="Chart 0">
            <a:extLst>
              <a:ext uri="{FF2B5EF4-FFF2-40B4-BE49-F238E27FC236}">
                <a16:creationId xmlns:a16="http://schemas.microsoft.com/office/drawing/2014/main" id="{BF4B2FA2-2E91-E275-7C73-27865BDAFE44}"/>
              </a:ext>
            </a:extLst>
          </p:cNvPr>
          <p:cNvGraphicFramePr/>
          <p:nvPr/>
        </p:nvGraphicFramePr>
        <p:xfrm>
          <a:off x="274320" y="1965960"/>
          <a:ext cx="5029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>
            <a:extLst>
              <a:ext uri="{FF2B5EF4-FFF2-40B4-BE49-F238E27FC236}">
                <a16:creationId xmlns:a16="http://schemas.microsoft.com/office/drawing/2014/main" id="{959CA8E4-4EAC-F076-DE24-620EF112B2C6}"/>
              </a:ext>
            </a:extLst>
          </p:cNvPr>
          <p:cNvSpPr/>
          <p:nvPr/>
        </p:nvSpPr>
        <p:spPr>
          <a:xfrm>
            <a:off x="5486400" y="1965960"/>
            <a:ext cx="3383280" cy="2801112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2E903D00-F018-E9F9-250F-5D36837B2F97}"/>
              </a:ext>
            </a:extLst>
          </p:cNvPr>
          <p:cNvSpPr/>
          <p:nvPr/>
        </p:nvSpPr>
        <p:spPr>
          <a:xfrm>
            <a:off x="5623560" y="20299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Analysis</a:t>
            </a:r>
            <a:endParaRPr lang="en-US" sz="1300" dirty="0"/>
          </a:p>
        </p:txBody>
      </p:sp>
      <p:graphicFrame>
        <p:nvGraphicFramePr>
          <p:cNvPr id="20" name="Table 0">
            <a:extLst>
              <a:ext uri="{FF2B5EF4-FFF2-40B4-BE49-F238E27FC236}">
                <a16:creationId xmlns:a16="http://schemas.microsoft.com/office/drawing/2014/main" id="{B582E78D-DB41-5B89-EB63-B468F210D8DA}"/>
              </a:ext>
            </a:extLst>
          </p:cNvPr>
          <p:cNvGraphicFramePr>
            <a:graphicFrameLocks noGrp="1"/>
          </p:cNvGraphicFramePr>
          <p:nvPr/>
        </p:nvGraphicFramePr>
        <p:xfrm>
          <a:off x="5532120" y="2377440"/>
          <a:ext cx="3246120" cy="22631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 integral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480.97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(all 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562.00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 saving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results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 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Wake-up events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transitions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 reduction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19% (state-ret.)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 reduction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36% (Agarwal)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F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08785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77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Analysis — Leakage Savings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27432"/>
          </a:xfrm>
          <a:prstGeom prst="rect">
            <a:avLst/>
          </a:prstGeom>
          <a:solidFill>
            <a:srgbClr val="C5D8F0"/>
          </a:solidFill>
          <a:ln/>
        </p:spPr>
      </p:sp>
      <p:graphicFrame>
        <p:nvGraphicFramePr>
          <p:cNvPr id="5" name="Chart 0"/>
          <p:cNvGraphicFramePr/>
          <p:nvPr/>
        </p:nvGraphicFramePr>
        <p:xfrm>
          <a:off x="274320" y="822960"/>
          <a:ext cx="47548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212080" y="82296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349240" y="8869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Model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49240" y="1252728"/>
            <a:ext cx="338328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L_integral = Σ(cycles × weight)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 mapping: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   → 1.00 (baseline)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LS    → 0.81 (–19% saving)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DS    → 0.64 (–36% saving)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Calculation: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327×1.00 = 327.00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21×0.81  =  17.01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214×0.64 = 136.96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─────────────────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    = 480.97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Baseline = 562.00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Saving   = 14.4%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4251960"/>
            <a:ext cx="859536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savings with realistic idle ratio (70% idle workload):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0" y="43159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~20% saving  |  DS up to 36% saving  |  Mixed ~25–30%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Novel Contribution — What Makes This Different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27432"/>
          </a:xfrm>
          <a:prstGeom prst="rect">
            <a:avLst/>
          </a:prstGeom>
          <a:solidFill>
            <a:srgbClr val="1E4D7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160520" cy="1920240"/>
          </a:xfrm>
          <a:prstGeom prst="rect">
            <a:avLst/>
          </a:prstGeom>
          <a:solidFill>
            <a:srgbClr val="0D2137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57200" cy="19202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4124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8961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Dual-Condition Gate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280160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entry requires BOTH idle_count threshold AND activity_rate below limit. Prior work (Agarwal) only checks idle cycles  ignoring burst frequency.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160520" cy="1920240"/>
          </a:xfrm>
          <a:prstGeom prst="rect">
            <a:avLst/>
          </a:prstGeom>
          <a:solidFill>
            <a:srgbClr val="0D2137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22960"/>
            <a:ext cx="457200" cy="192024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84124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57800" y="8961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Threshold Widening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57800" y="1280160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activity_rate &gt; 50%, thresholds are widened by ADAPT_OFFSET (4 cycles). This prevents thrashing during bursty workloads that Agarwal's fixed thresholds cannot handle.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880360"/>
            <a:ext cx="4160520" cy="1920240"/>
          </a:xfrm>
          <a:prstGeom prst="rect">
            <a:avLst/>
          </a:prstGeom>
          <a:solidFill>
            <a:srgbClr val="0D2137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80360"/>
            <a:ext cx="457200" cy="1920240"/>
          </a:xfrm>
          <a:prstGeom prst="rect">
            <a:avLst/>
          </a:prstGeom>
          <a:solidFill>
            <a:srgbClr val="0077FF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89864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29535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Hysteresis Bands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337560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ENTER (3/8 cycles) vs EXIT (1/4 cycles) thresholds per sleep mode. Prevents the rapid sleep/wake oscillation that degrades throughput.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880360"/>
            <a:ext cx="4160520" cy="1920240"/>
          </a:xfrm>
          <a:prstGeom prst="rect">
            <a:avLst/>
          </a:prstGeom>
          <a:solidFill>
            <a:srgbClr val="0D2137"/>
          </a:solidFill>
          <a:ln w="12700">
            <a:solidFill>
              <a:srgbClr val="1E4D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880360"/>
            <a:ext cx="457200" cy="19202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89864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57800" y="29535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Zero-Multiplier Activity Monitor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3337560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Shift-register popcount avoids multipliers entirely. activity_rate computed with single shift (×16). Minimal area overhead vs ML-based monitors.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472744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claim concept: 'A power gating controller comprising: a dual-condition adaptive hysteresis predictor with workload-responsive threshold widening...'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600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8912" y="1051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Design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" y="139903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dual-condition hysteresis predictor adapts to burst vs sparse workloads eliminating the thrashing caused by static-threshold approaches.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4160520" cy="1600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0E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73752" y="1051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RTL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73752" y="139903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6-module Verilog implementation simulated in Synopsys VCS across 5 workload scenarios. All expected behaviors confirmed correct.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697480"/>
            <a:ext cx="4160520" cy="1600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" y="27889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Savings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" y="313639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 leakage reduction over 562-cycle simulation. Light Sleep: 19% reduction. Deep Sleep: 36% reduction. Scales to 25–30% under real idle-heavy workloads.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697480"/>
            <a:ext cx="4160520" cy="1600200"/>
          </a:xfrm>
          <a:prstGeom prst="rect">
            <a:avLst/>
          </a:prstGeom>
          <a:solidFill>
            <a:srgbClr val="0D2137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73752" y="27889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Overhead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73752" y="313639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Shift-register popcount avoids multipliers. Controller adds minimal area to the SoC block suitable for tight power budgets.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4671</Words>
  <Application>Microsoft Office PowerPoint</Application>
  <PresentationFormat>On-screen Show (16:9)</PresentationFormat>
  <Paragraphs>568</Paragraphs>
  <Slides>26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Multi-Level Power Gating Controller</dc:title>
  <dc:subject>PptxGenJS Presentation</dc:subject>
  <dc:creator>Computer Engineering Project</dc:creator>
  <cp:lastModifiedBy>layan salem</cp:lastModifiedBy>
  <cp:revision>4</cp:revision>
  <dcterms:created xsi:type="dcterms:W3CDTF">2026-06-01T20:59:53Z</dcterms:created>
  <dcterms:modified xsi:type="dcterms:W3CDTF">2026-06-03T03:44:19Z</dcterms:modified>
</cp:coreProperties>
</file>